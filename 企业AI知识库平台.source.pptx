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6256000" cy="9144000"/>
  <p:notesSz cx="9144000" cy="16256000"/>
  <p:embeddedFontLst>
    <p:embeddedFont>
      <p:font typeface="Quattrocento Sans" panose="020B0502050000020003" pitchFamily="34" charset="0"/>
      <p:regular r:id="rId25"/>
    </p:embeddedFont>
    <p:embeddedFont>
      <p:font typeface="Quattrocento Sans" panose="020B0502050000020003" pitchFamily="34" charset="-122"/>
      <p:regular r:id="rId26"/>
    </p:embeddedFont>
    <p:embeddedFont>
      <p:font typeface="Quattrocento Sans" panose="020B0502050000020003" pitchFamily="34" charset="-12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14478000" y="381000"/>
            <a:ext cx="635000" cy="635000"/>
          </a:xfrm>
          <a:prstGeom prst="ellipse">
            <a:avLst/>
          </a:prstGeom>
          <a:solidFill>
            <a:srgbClr val="F5F5F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14000" y="457200"/>
            <a:ext cx="39116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技术委员会 · 架构评审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635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3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TECHNOLOGY PROPOSAL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311400"/>
            <a:ext cx="13970000" cy="9652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企业AI知识库平台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403600"/>
            <a:ext cx="1270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从"能回答"到"可信问答"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013200"/>
            <a:ext cx="14732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9" name="Shape 7"/>
          <p:cNvSpPr/>
          <p:nvPr/>
        </p:nvSpPr>
        <p:spPr>
          <a:xfrm>
            <a:off x="0" y="5461000"/>
            <a:ext cx="16256000" cy="3683000"/>
          </a:xfrm>
          <a:prstGeom prst="rect">
            <a:avLst/>
          </a:prstGeom>
          <a:solidFill>
            <a:srgbClr val="1A4A7A"/>
          </a:solidFill>
        </p:spPr>
        <p:txBody>
          <a:bodyPr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62000" y="6070600"/>
            <a:ext cx="1016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5532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endParaRPr lang="zh-CN" altLang="en-US" sz="18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sym typeface="+mn-ea"/>
              </a:rPr>
              <a:t>构建面向审计行业的企业级知识沉淀与智能问答基础设施</a:t>
            </a:r>
            <a:endParaRPr lang="en-US" dirty="0"/>
          </a:p>
          <a:p>
            <a:pPr>
              <a:lnSpc>
                <a:spcPct val="100000"/>
              </a:lnSpc>
            </a:pPr>
            <a:endParaRPr lang="zh-CN" altLang="en-US" sz="1800" dirty="0">
              <a:solidFill>
                <a:srgbClr val="FFFFFF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7061200"/>
            <a:ext cx="762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sym typeface="+mn-ea"/>
              </a:rPr>
              <a:t>汇报人：</a:t>
            </a:r>
            <a:r>
              <a:rPr lang="zh-CN" alt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  <a:sym typeface="+mn-ea"/>
              </a:rPr>
              <a:t>朱学军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75692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2026-05-10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0" y="7950200"/>
            <a:ext cx="5334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800" dirty="0">
                <a:solidFill>
                  <a:srgbClr val="FFFFFF">
                    <a:alpha val="313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KB-PLATFORM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背景与问题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通用大模型的三大局限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Shape 5"/>
          <p:cNvSpPr/>
          <p:nvPr/>
        </p:nvSpPr>
        <p:spPr>
          <a:xfrm>
            <a:off x="508000" y="1041400"/>
            <a:ext cx="15240000" cy="508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8" name="Text 6"/>
          <p:cNvSpPr/>
          <p:nvPr/>
        </p:nvSpPr>
        <p:spPr>
          <a:xfrm>
            <a:off x="762000" y="1041400"/>
            <a:ext cx="147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6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大模型很强，但在企业垂直领域存在三大硬伤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803400"/>
            <a:ext cx="457200" cy="457200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10" name="Text 8"/>
          <p:cNvSpPr/>
          <p:nvPr/>
        </p:nvSpPr>
        <p:spPr>
          <a:xfrm>
            <a:off x="508000" y="18034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803400"/>
            <a:ext cx="1460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知识更新不及时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311400"/>
            <a:ext cx="14605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模型训练数据有截止日期，新制度、新法规无法覆盖，导致回答可能基于过时的知识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8000" y="30988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4" name="Shape 12"/>
          <p:cNvSpPr/>
          <p:nvPr/>
        </p:nvSpPr>
        <p:spPr>
          <a:xfrm>
            <a:off x="508000" y="3302000"/>
            <a:ext cx="457200" cy="457200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15" name="Text 13"/>
          <p:cNvSpPr/>
          <p:nvPr/>
        </p:nvSpPr>
        <p:spPr>
          <a:xfrm>
            <a:off x="508000" y="33020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302000"/>
            <a:ext cx="1460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垂直领域理解浅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10000"/>
            <a:ext cx="14605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审计、财务等专业术语、条款、上下文关联能力不足，难以处理复杂的专业查询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8000" y="45974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19" name="Shape 17"/>
          <p:cNvSpPr/>
          <p:nvPr/>
        </p:nvSpPr>
        <p:spPr>
          <a:xfrm>
            <a:off x="508000" y="4800600"/>
            <a:ext cx="457200" cy="457200"/>
          </a:xfrm>
          <a:prstGeom prst="ellipse">
            <a:avLst/>
          </a:prstGeom>
          <a:solidFill>
            <a:srgbClr val="E74C3C"/>
          </a:solidFill>
        </p:spPr>
      </p:sp>
      <p:sp>
        <p:nvSpPr>
          <p:cNvPr id="20" name="Text 18"/>
          <p:cNvSpPr/>
          <p:nvPr/>
        </p:nvSpPr>
        <p:spPr>
          <a:xfrm>
            <a:off x="508000" y="4800600"/>
            <a:ext cx="4572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4800600"/>
            <a:ext cx="1460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企业知识无法触达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5308600"/>
            <a:ext cx="14605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内部制度、流程、项目经验不在模型训练语料中，大模型对企业内部知识一无所知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8000" y="60960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4" name="Shape 22"/>
          <p:cNvSpPr/>
          <p:nvPr/>
        </p:nvSpPr>
        <p:spPr>
          <a:xfrm>
            <a:off x="508000" y="6350000"/>
            <a:ext cx="15240000" cy="1016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25" name="Shape 23"/>
          <p:cNvSpPr/>
          <p:nvPr/>
        </p:nvSpPr>
        <p:spPr>
          <a:xfrm>
            <a:off x="787400" y="65532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0" y="171450"/>
                </a:moveTo>
                <a:cubicBezTo>
                  <a:pt x="0" y="118824"/>
                  <a:pt x="42624" y="76200"/>
                  <a:pt x="95250" y="76200"/>
                </a:cubicBezTo>
                <a:lnTo>
                  <a:pt x="101600" y="76200"/>
                </a:lnTo>
                <a:cubicBezTo>
                  <a:pt x="115649" y="76200"/>
                  <a:pt x="127000" y="87551"/>
                  <a:pt x="127000" y="101600"/>
                </a:cubicBezTo>
                <a:cubicBezTo>
                  <a:pt x="127000" y="115649"/>
                  <a:pt x="115649" y="127000"/>
                  <a:pt x="101600" y="127000"/>
                </a:cubicBezTo>
                <a:lnTo>
                  <a:pt x="95250" y="127000"/>
                </a:lnTo>
                <a:cubicBezTo>
                  <a:pt x="70723" y="127000"/>
                  <a:pt x="50800" y="146923"/>
                  <a:pt x="50800" y="171450"/>
                </a:cubicBezTo>
                <a:lnTo>
                  <a:pt x="50800" y="177800"/>
                </a:lnTo>
                <a:lnTo>
                  <a:pt x="101600" y="177800"/>
                </a:lnTo>
                <a:cubicBezTo>
                  <a:pt x="129619" y="177800"/>
                  <a:pt x="152400" y="200581"/>
                  <a:pt x="152400" y="228600"/>
                </a:cubicBezTo>
                <a:lnTo>
                  <a:pt x="152400" y="279400"/>
                </a:lnTo>
                <a:cubicBezTo>
                  <a:pt x="152400" y="307419"/>
                  <a:pt x="129619" y="330200"/>
                  <a:pt x="101600" y="330200"/>
                </a:cubicBezTo>
                <a:lnTo>
                  <a:pt x="50800" y="330200"/>
                </a:lnTo>
                <a:cubicBezTo>
                  <a:pt x="22781" y="330200"/>
                  <a:pt x="0" y="307419"/>
                  <a:pt x="0" y="279400"/>
                </a:cubicBezTo>
                <a:lnTo>
                  <a:pt x="0" y="171450"/>
                </a:lnTo>
                <a:close/>
                <a:moveTo>
                  <a:pt x="203200" y="171450"/>
                </a:moveTo>
                <a:cubicBezTo>
                  <a:pt x="203200" y="118824"/>
                  <a:pt x="245824" y="76200"/>
                  <a:pt x="298450" y="76200"/>
                </a:cubicBezTo>
                <a:lnTo>
                  <a:pt x="304800" y="76200"/>
                </a:lnTo>
                <a:cubicBezTo>
                  <a:pt x="318849" y="76200"/>
                  <a:pt x="330200" y="87551"/>
                  <a:pt x="330200" y="101600"/>
                </a:cubicBezTo>
                <a:cubicBezTo>
                  <a:pt x="330200" y="115649"/>
                  <a:pt x="318849" y="127000"/>
                  <a:pt x="304800" y="127000"/>
                </a:cubicBezTo>
                <a:lnTo>
                  <a:pt x="298450" y="127000"/>
                </a:lnTo>
                <a:cubicBezTo>
                  <a:pt x="273923" y="127000"/>
                  <a:pt x="254000" y="146923"/>
                  <a:pt x="254000" y="171450"/>
                </a:cubicBezTo>
                <a:lnTo>
                  <a:pt x="254000" y="177800"/>
                </a:lnTo>
                <a:lnTo>
                  <a:pt x="304800" y="177800"/>
                </a:lnTo>
                <a:cubicBezTo>
                  <a:pt x="332819" y="177800"/>
                  <a:pt x="355600" y="200581"/>
                  <a:pt x="355600" y="228600"/>
                </a:cubicBezTo>
                <a:lnTo>
                  <a:pt x="355600" y="279400"/>
                </a:lnTo>
                <a:cubicBezTo>
                  <a:pt x="355600" y="307419"/>
                  <a:pt x="332819" y="330200"/>
                  <a:pt x="304800" y="330200"/>
                </a:cubicBezTo>
                <a:lnTo>
                  <a:pt x="254000" y="330200"/>
                </a:lnTo>
                <a:cubicBezTo>
                  <a:pt x="225981" y="330200"/>
                  <a:pt x="203200" y="307419"/>
                  <a:pt x="203200" y="279400"/>
                </a:cubicBezTo>
                <a:lnTo>
                  <a:pt x="203200" y="171450"/>
                </a:lnTo>
                <a:close/>
              </a:path>
            </a:pathLst>
          </a:custGeom>
          <a:solidFill>
            <a:srgbClr val="FFFFFF">
              <a:alpha val="25098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1397000" y="6350000"/>
            <a:ext cx="14097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"通用大模型知道'会计准则是什么'，但不知道'我们公司这条制度第3条是怎么写的'。"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8000" y="7620000"/>
            <a:ext cx="152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→ 问题不在于大模型不够强，而在于企业知识没有与大模型有效连接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 背景与问题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解决思路：RAG + 企业知识库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Shape 5"/>
          <p:cNvSpPr/>
          <p:nvPr/>
        </p:nvSpPr>
        <p:spPr>
          <a:xfrm>
            <a:off x="508000" y="1041400"/>
            <a:ext cx="15240000" cy="508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8" name="Text 6"/>
          <p:cNvSpPr/>
          <p:nvPr/>
        </p:nvSpPr>
        <p:spPr>
          <a:xfrm>
            <a:off x="762000" y="1041400"/>
            <a:ext cx="147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6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不是替代大模型，而是给大模型配一个"企业外脑"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727200"/>
            <a:ext cx="7366000" cy="1651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</p:spPr>
      </p:sp>
      <p:sp>
        <p:nvSpPr>
          <p:cNvPr id="10" name="Shape 8"/>
          <p:cNvSpPr/>
          <p:nvPr/>
        </p:nvSpPr>
        <p:spPr>
          <a:xfrm>
            <a:off x="762000" y="1930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1A4A7A"/>
          </a:solidFill>
        </p:spPr>
      </p:sp>
      <p:sp>
        <p:nvSpPr>
          <p:cNvPr id="11" name="Text 9"/>
          <p:cNvSpPr/>
          <p:nvPr/>
        </p:nvSpPr>
        <p:spPr>
          <a:xfrm>
            <a:off x="1320800" y="1879600"/>
            <a:ext cx="6299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RAG架构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2362200"/>
            <a:ext cx="68580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先检索企业知识，再让模型基于准确资料回答，不是凭空编造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1727200"/>
            <a:ext cx="7366000" cy="1651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</p:spPr>
      </p:sp>
      <p:sp>
        <p:nvSpPr>
          <p:cNvPr id="14" name="Shape 12"/>
          <p:cNvSpPr/>
          <p:nvPr/>
        </p:nvSpPr>
        <p:spPr>
          <a:xfrm>
            <a:off x="8636000" y="1930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1A4A7A"/>
          </a:solidFill>
        </p:spPr>
      </p:sp>
      <p:sp>
        <p:nvSpPr>
          <p:cNvPr id="15" name="Text 13"/>
          <p:cNvSpPr/>
          <p:nvPr/>
        </p:nvSpPr>
        <p:spPr>
          <a:xfrm>
            <a:off x="9194800" y="1879600"/>
            <a:ext cx="6299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本地可控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2362200"/>
            <a:ext cx="68580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模型选型、数据权限、回答策略企业自主掌控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3632200"/>
            <a:ext cx="7366000" cy="1651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</p:spPr>
      </p:sp>
      <p:sp>
        <p:nvSpPr>
          <p:cNvPr id="18" name="Shape 16"/>
          <p:cNvSpPr/>
          <p:nvPr/>
        </p:nvSpPr>
        <p:spPr>
          <a:xfrm>
            <a:off x="736600" y="38354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32978" y="76200"/>
                </a:moveTo>
                <a:cubicBezTo>
                  <a:pt x="319802" y="76200"/>
                  <a:pt x="307023" y="79772"/>
                  <a:pt x="295831" y="86281"/>
                </a:cubicBezTo>
                <a:cubicBezTo>
                  <a:pt x="283289" y="73581"/>
                  <a:pt x="268684" y="62944"/>
                  <a:pt x="252571" y="54928"/>
                </a:cubicBezTo>
                <a:cubicBezTo>
                  <a:pt x="274955" y="35878"/>
                  <a:pt x="303451" y="25400"/>
                  <a:pt x="332978" y="25400"/>
                </a:cubicBezTo>
                <a:cubicBezTo>
                  <a:pt x="401558" y="25400"/>
                  <a:pt x="457200" y="80963"/>
                  <a:pt x="457200" y="149622"/>
                </a:cubicBezTo>
                <a:cubicBezTo>
                  <a:pt x="457200" y="182563"/>
                  <a:pt x="444103" y="214154"/>
                  <a:pt x="420846" y="237411"/>
                </a:cubicBezTo>
                <a:lnTo>
                  <a:pt x="364411" y="293846"/>
                </a:lnTo>
                <a:cubicBezTo>
                  <a:pt x="341154" y="317103"/>
                  <a:pt x="309563" y="330200"/>
                  <a:pt x="276622" y="330200"/>
                </a:cubicBezTo>
                <a:cubicBezTo>
                  <a:pt x="208042" y="330200"/>
                  <a:pt x="152400" y="274638"/>
                  <a:pt x="152400" y="205978"/>
                </a:cubicBezTo>
                <a:cubicBezTo>
                  <a:pt x="152400" y="204788"/>
                  <a:pt x="152400" y="203597"/>
                  <a:pt x="152479" y="202406"/>
                </a:cubicBezTo>
                <a:cubicBezTo>
                  <a:pt x="152876" y="188357"/>
                  <a:pt x="164544" y="177324"/>
                  <a:pt x="178594" y="177721"/>
                </a:cubicBezTo>
                <a:cubicBezTo>
                  <a:pt x="192643" y="178118"/>
                  <a:pt x="203676" y="189786"/>
                  <a:pt x="203279" y="203835"/>
                </a:cubicBezTo>
                <a:cubicBezTo>
                  <a:pt x="203279" y="204549"/>
                  <a:pt x="203279" y="205264"/>
                  <a:pt x="203279" y="205899"/>
                </a:cubicBezTo>
                <a:cubicBezTo>
                  <a:pt x="203279" y="246459"/>
                  <a:pt x="236141" y="279321"/>
                  <a:pt x="276701" y="279321"/>
                </a:cubicBezTo>
                <a:cubicBezTo>
                  <a:pt x="296148" y="279321"/>
                  <a:pt x="314801" y="271621"/>
                  <a:pt x="328613" y="257810"/>
                </a:cubicBezTo>
                <a:lnTo>
                  <a:pt x="385048" y="201374"/>
                </a:lnTo>
                <a:cubicBezTo>
                  <a:pt x="398780" y="187643"/>
                  <a:pt x="406559" y="168910"/>
                  <a:pt x="406559" y="149463"/>
                </a:cubicBezTo>
                <a:cubicBezTo>
                  <a:pt x="406559" y="108903"/>
                  <a:pt x="373698" y="76041"/>
                  <a:pt x="333137" y="76041"/>
                </a:cubicBezTo>
                <a:close/>
                <a:moveTo>
                  <a:pt x="218440" y="137557"/>
                </a:moveTo>
                <a:cubicBezTo>
                  <a:pt x="216932" y="136922"/>
                  <a:pt x="215424" y="136049"/>
                  <a:pt x="214074" y="135096"/>
                </a:cubicBezTo>
                <a:cubicBezTo>
                  <a:pt x="204073" y="129937"/>
                  <a:pt x="192643" y="127000"/>
                  <a:pt x="180658" y="127000"/>
                </a:cubicBezTo>
                <a:cubicBezTo>
                  <a:pt x="161211" y="127000"/>
                  <a:pt x="142558" y="134699"/>
                  <a:pt x="128746" y="148511"/>
                </a:cubicBezTo>
                <a:lnTo>
                  <a:pt x="72311" y="204946"/>
                </a:lnTo>
                <a:cubicBezTo>
                  <a:pt x="58579" y="218678"/>
                  <a:pt x="50800" y="237411"/>
                  <a:pt x="50800" y="256858"/>
                </a:cubicBezTo>
                <a:cubicBezTo>
                  <a:pt x="50800" y="297418"/>
                  <a:pt x="83661" y="330279"/>
                  <a:pt x="124222" y="330279"/>
                </a:cubicBezTo>
                <a:cubicBezTo>
                  <a:pt x="137319" y="330279"/>
                  <a:pt x="150098" y="326787"/>
                  <a:pt x="161290" y="320278"/>
                </a:cubicBezTo>
                <a:cubicBezTo>
                  <a:pt x="173831" y="332978"/>
                  <a:pt x="188436" y="343614"/>
                  <a:pt x="204629" y="351631"/>
                </a:cubicBezTo>
                <a:cubicBezTo>
                  <a:pt x="182245" y="370602"/>
                  <a:pt x="153829" y="381159"/>
                  <a:pt x="124222" y="381159"/>
                </a:cubicBezTo>
                <a:cubicBezTo>
                  <a:pt x="55642" y="381159"/>
                  <a:pt x="0" y="325596"/>
                  <a:pt x="0" y="256937"/>
                </a:cubicBezTo>
                <a:cubicBezTo>
                  <a:pt x="0" y="223996"/>
                  <a:pt x="13097" y="192405"/>
                  <a:pt x="36354" y="169148"/>
                </a:cubicBezTo>
                <a:lnTo>
                  <a:pt x="92789" y="112713"/>
                </a:lnTo>
                <a:cubicBezTo>
                  <a:pt x="116046" y="89456"/>
                  <a:pt x="147638" y="76359"/>
                  <a:pt x="180578" y="76359"/>
                </a:cubicBezTo>
                <a:cubicBezTo>
                  <a:pt x="249317" y="76359"/>
                  <a:pt x="304800" y="132398"/>
                  <a:pt x="304800" y="200898"/>
                </a:cubicBezTo>
                <a:cubicBezTo>
                  <a:pt x="304800" y="201930"/>
                  <a:pt x="304800" y="202962"/>
                  <a:pt x="304800" y="203994"/>
                </a:cubicBezTo>
                <a:cubicBezTo>
                  <a:pt x="304483" y="218043"/>
                  <a:pt x="292814" y="229076"/>
                  <a:pt x="278765" y="228759"/>
                </a:cubicBezTo>
                <a:cubicBezTo>
                  <a:pt x="264716" y="228441"/>
                  <a:pt x="253682" y="216773"/>
                  <a:pt x="254000" y="202724"/>
                </a:cubicBezTo>
                <a:cubicBezTo>
                  <a:pt x="254000" y="202089"/>
                  <a:pt x="254000" y="201533"/>
                  <a:pt x="254000" y="200898"/>
                </a:cubicBezTo>
                <a:cubicBezTo>
                  <a:pt x="254000" y="174149"/>
                  <a:pt x="239713" y="150654"/>
                  <a:pt x="218440" y="137716"/>
                </a:cubicBezTo>
                <a:close/>
              </a:path>
            </a:pathLst>
          </a:custGeom>
          <a:solidFill>
            <a:srgbClr val="1A4A7A"/>
          </a:solidFill>
        </p:spPr>
      </p:sp>
      <p:sp>
        <p:nvSpPr>
          <p:cNvPr id="19" name="Text 17"/>
          <p:cNvSpPr/>
          <p:nvPr/>
        </p:nvSpPr>
        <p:spPr>
          <a:xfrm>
            <a:off x="1320800" y="3784600"/>
            <a:ext cx="6299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答案可追溯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267200"/>
            <a:ext cx="68580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每句话都有出处，可点击跳转到原文验证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3632200"/>
            <a:ext cx="7366000" cy="1651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</p:spPr>
      </p:sp>
      <p:sp>
        <p:nvSpPr>
          <p:cNvPr id="22" name="Shape 20"/>
          <p:cNvSpPr/>
          <p:nvPr/>
        </p:nvSpPr>
        <p:spPr>
          <a:xfrm>
            <a:off x="8661400" y="38354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1A4A7A"/>
          </a:solidFill>
        </p:spPr>
      </p:sp>
      <p:sp>
        <p:nvSpPr>
          <p:cNvPr id="23" name="Text 21"/>
          <p:cNvSpPr/>
          <p:nvPr/>
        </p:nvSpPr>
        <p:spPr>
          <a:xfrm>
            <a:off x="9194800" y="3784600"/>
            <a:ext cx="62992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知识持续沉淀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36000" y="4267200"/>
            <a:ext cx="68580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制度更新、项目复盘持续入库，越用越准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8000" y="55372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RAG 核心流程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8000" y="594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27" name="Shape 25"/>
          <p:cNvSpPr/>
          <p:nvPr/>
        </p:nvSpPr>
        <p:spPr>
          <a:xfrm>
            <a:off x="508000" y="6146800"/>
            <a:ext cx="2159000" cy="7112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28" name="Text 26"/>
          <p:cNvSpPr/>
          <p:nvPr/>
        </p:nvSpPr>
        <p:spPr>
          <a:xfrm>
            <a:off x="508000" y="6146800"/>
            <a:ext cx="2159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用户提问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768600" y="63754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30" name="Shape 28"/>
          <p:cNvSpPr/>
          <p:nvPr/>
        </p:nvSpPr>
        <p:spPr>
          <a:xfrm>
            <a:off x="3175000" y="6146800"/>
            <a:ext cx="2159000" cy="7112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31" name="Text 29"/>
          <p:cNvSpPr/>
          <p:nvPr/>
        </p:nvSpPr>
        <p:spPr>
          <a:xfrm>
            <a:off x="3175000" y="6146800"/>
            <a:ext cx="2159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查询理解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35600" y="63754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33" name="Shape 31"/>
          <p:cNvSpPr/>
          <p:nvPr/>
        </p:nvSpPr>
        <p:spPr>
          <a:xfrm>
            <a:off x="5842000" y="6146800"/>
            <a:ext cx="2159000" cy="711200"/>
          </a:xfrm>
          <a:prstGeom prst="roundRect">
            <a:avLst>
              <a:gd name="adj" fmla="val 4000"/>
            </a:avLst>
          </a:prstGeom>
          <a:solidFill>
            <a:srgbClr val="2E86C1"/>
          </a:solidFill>
        </p:spPr>
      </p:sp>
      <p:sp>
        <p:nvSpPr>
          <p:cNvPr id="34" name="Text 32"/>
          <p:cNvSpPr/>
          <p:nvPr/>
        </p:nvSpPr>
        <p:spPr>
          <a:xfrm>
            <a:off x="5842000" y="6146800"/>
            <a:ext cx="2159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知识检索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2600" y="63754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36" name="Shape 34"/>
          <p:cNvSpPr/>
          <p:nvPr/>
        </p:nvSpPr>
        <p:spPr>
          <a:xfrm>
            <a:off x="8509000" y="6146800"/>
            <a:ext cx="2159000" cy="7112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37" name="Text 35"/>
          <p:cNvSpPr/>
          <p:nvPr/>
        </p:nvSpPr>
        <p:spPr>
          <a:xfrm>
            <a:off x="8509000" y="6146800"/>
            <a:ext cx="2159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上下文组装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769600" y="63754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39" name="Shape 37"/>
          <p:cNvSpPr/>
          <p:nvPr/>
        </p:nvSpPr>
        <p:spPr>
          <a:xfrm>
            <a:off x="11176000" y="6146800"/>
            <a:ext cx="2159000" cy="7112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40" name="Text 38"/>
          <p:cNvSpPr/>
          <p:nvPr/>
        </p:nvSpPr>
        <p:spPr>
          <a:xfrm>
            <a:off x="11176000" y="6146800"/>
            <a:ext cx="2159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模型生成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3436600" y="63754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42" name="Shape 40"/>
          <p:cNvSpPr/>
          <p:nvPr/>
        </p:nvSpPr>
        <p:spPr>
          <a:xfrm>
            <a:off x="13843000" y="6146800"/>
            <a:ext cx="1905000" cy="7112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43" name="Text 41"/>
          <p:cNvSpPr/>
          <p:nvPr/>
        </p:nvSpPr>
        <p:spPr>
          <a:xfrm>
            <a:off x="13843000" y="6146800"/>
            <a:ext cx="1905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带引用回答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8000" y="7239000"/>
            <a:ext cx="15240000" cy="7112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45" name="Text 43"/>
          <p:cNvSpPr/>
          <p:nvPr/>
        </p:nvSpPr>
        <p:spPr>
          <a:xfrm>
            <a:off x="762000" y="7239000"/>
            <a:ext cx="14732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关键优势：</a:t>
            </a:r>
            <a:r>
              <a:rPr lang="en-US" sz="15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企业知识持续沉淀 → RAG精准检索 → 大模型生成可信答案 → 每句话都有出处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现状分析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小智助手 — 验证了需求，但触达天花板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Shape 5"/>
          <p:cNvSpPr/>
          <p:nvPr/>
        </p:nvSpPr>
        <p:spPr>
          <a:xfrm>
            <a:off x="508000" y="1041400"/>
            <a:ext cx="15240000" cy="508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8" name="Text 6"/>
          <p:cNvSpPr/>
          <p:nvPr/>
        </p:nvSpPr>
        <p:spPr>
          <a:xfrm>
            <a:off x="762000" y="1041400"/>
            <a:ext cx="147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6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小智已验证"企业知识问答"的业务价值，但属于 </a:t>
            </a:r>
            <a:r>
              <a:rPr lang="en-US" sz="1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PoC 级别</a:t>
            </a:r>
            <a:r>
              <a:rPr lang="en-US" sz="16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，存在四大技术债务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752600"/>
            <a:ext cx="7112000" cy="508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10" name="Text 8"/>
          <p:cNvSpPr/>
          <p:nvPr/>
        </p:nvSpPr>
        <p:spPr>
          <a:xfrm>
            <a:off x="508000" y="1752600"/>
            <a:ext cx="711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小智当前能力（已验证）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8000" y="2260600"/>
            <a:ext cx="7112000" cy="5588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</p:spPr>
      </p:sp>
      <p:sp>
        <p:nvSpPr>
          <p:cNvPr id="12" name="Text 10"/>
          <p:cNvSpPr/>
          <p:nvPr/>
        </p:nvSpPr>
        <p:spPr>
          <a:xfrm>
            <a:off x="762000" y="2514600"/>
            <a:ext cx="6604000" cy="508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7AE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✓</a:t>
            </a:r>
            <a:r>
              <a:rPr lang="en-US" sz="16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单轮 / 多轮对话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7AE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✓</a:t>
            </a:r>
            <a:r>
              <a:rPr lang="en-US" sz="16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SSE 流式输出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7AE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✓</a:t>
            </a:r>
            <a:r>
              <a:rPr lang="en-US" sz="16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专项问答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7AE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✓</a:t>
            </a:r>
            <a:r>
              <a:rPr lang="en-US" sz="16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智能检索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7AE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✓</a:t>
            </a:r>
            <a:r>
              <a:rPr lang="en-US" sz="16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会话记录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7AE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✓</a:t>
            </a:r>
            <a:r>
              <a:rPr lang="en-US" sz="16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复制 / 收藏 / 点赞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定性结论：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小智是</a:t>
            </a:r>
            <a:r>
              <a:rPr lang="en-US" sz="1600" b="1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需求验证器</a:t>
            </a:r>
            <a:r>
              <a:rPr lang="en-US" sz="16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，证明了"审计行业需要知识问答"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1752600"/>
            <a:ext cx="7620000" cy="508000"/>
          </a:xfrm>
          <a:prstGeom prst="roundRect">
            <a:avLst>
              <a:gd name="adj" fmla="val 4000"/>
            </a:avLst>
          </a:prstGeom>
          <a:solidFill>
            <a:srgbClr val="E74C3C"/>
          </a:solidFill>
        </p:spPr>
      </p:sp>
      <p:sp>
        <p:nvSpPr>
          <p:cNvPr id="14" name="Text 12"/>
          <p:cNvSpPr/>
          <p:nvPr/>
        </p:nvSpPr>
        <p:spPr>
          <a:xfrm>
            <a:off x="8128000" y="17526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四大技术债务（天花板）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2387600"/>
            <a:ext cx="7620000" cy="1270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2000" y="2489200"/>
            <a:ext cx="711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债务1：文件解析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2844800"/>
            <a:ext cx="7112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直接调用大模型API解析，无独立解析引擎，无前端过程展示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3784600"/>
            <a:ext cx="7620000" cy="1270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2000" y="3886200"/>
            <a:ext cx="711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债务2：数据清洗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4241800"/>
            <a:ext cx="7112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解析后的文本直接生成向量存入向量库，无清洗、无分块控制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0" y="5181600"/>
            <a:ext cx="7620000" cy="1270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2000" y="5283200"/>
            <a:ext cx="711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债务3：数据分块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82000" y="5638800"/>
            <a:ext cx="7112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让大模型自行决定切分，无语义边界，无父子结构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0" y="6578600"/>
            <a:ext cx="7620000" cy="1270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  <a:ln w="12700">
            <a:solidFill>
              <a:srgbClr val="F5C6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2000" y="6680200"/>
            <a:ext cx="711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债务4：知识检索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2000" y="7035800"/>
            <a:ext cx="7112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纯向量相似度匹配，无关键词检索、无重排序、无精排模型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现状分析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四大技术债务详解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508000" y="990600"/>
            <a:ext cx="152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5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小智的每一个技术选择，在业务规模扩大后都会变成"硬伤"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08000" y="1473200"/>
          <a:ext cx="15240000" cy="5080000"/>
        </p:xfrm>
        <a:graphic>
          <a:graphicData uri="http://schemas.openxmlformats.org/drawingml/2006/table">
            <a:tbl>
              <a:tblPr/>
              <a:tblGrid>
                <a:gridCol w="1828800"/>
                <a:gridCol w="3352800"/>
                <a:gridCol w="5029200"/>
                <a:gridCol w="502920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瓶颈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小智的实现方式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产生的具体问题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业务影响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文件解析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大模型API解析，无独立引擎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长文本截断、格式丢失、表格乱码；解析失败无感知；不支持扫描件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上传的文档解析质量不可控，入库即带"硬伤"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数据清洗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无清洗环节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页眉页脚、特殊符号、HTML标签直接入库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向量库中充斥噪声，检索召回大量无关内容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数据分块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无分块策略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让大模型自行决定切分；无语义边界；无父子结构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"切太大"→噪声多；"切太小"→上下文断裂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知识检索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单路向量匹配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对"第几条""编号"不敏感；无BM25；无重排序；无FAQ缓存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精确条款经常答错；高频问题每次3-8秒；成本高昂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8000" y="6807200"/>
            <a:ext cx="15240000" cy="7112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10" name="Text 7"/>
          <p:cNvSpPr/>
          <p:nvPr/>
        </p:nvSpPr>
        <p:spPr>
          <a:xfrm>
            <a:off x="762000" y="6807200"/>
            <a:ext cx="14732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结论：</a:t>
            </a:r>
            <a:r>
              <a:rPr lang="en-US" sz="16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这些问题不是修修补补能解决的，需要重新设计架构。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 现状分析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 vs KB-Platform 深度对比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508000" y="965200"/>
            <a:ext cx="152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4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不是否定小智，是在验证需求的基础上，用企业级架构全面升级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08000" y="1371600"/>
          <a:ext cx="15240000" cy="5638800"/>
        </p:xfrm>
        <a:graphic>
          <a:graphicData uri="http://schemas.openxmlformats.org/drawingml/2006/table">
            <a:tbl>
              <a:tblPr/>
              <a:tblGrid>
                <a:gridCol w="2133600"/>
                <a:gridCol w="4572000"/>
                <a:gridCol w="8534400"/>
              </a:tblGrid>
              <a:tr h="48151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小智（当前）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KB-Platform（升级价值）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4688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文件解析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888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大模型API解析，无过程展示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Apache Tika + 五层清洗 + 质量评分 + 前端可视化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8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数据清洗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五层清洗流水线 + 质量评分0-100分，噪声降低80%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88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分块策略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无控制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5种模式 + Parent-Child双层架构，命中率 20%→90%+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8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检索链路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888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单路Dense向量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Dense+Rerank+BM25+FAQ+RRF融合，Recall@5: 45%→75%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88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重排序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BGE-Reranker-v2-m3本地部署，引用准确率 70%→85%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8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权限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888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基础三级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多维度ACL（密级/部门/角色/地区/业务域）+ 两道防线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88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可观测性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Pipeline Trace + 19阶段耗时 + Prompt预算，5分钟定位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8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拒答策略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888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简单兜底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三级拒答（无结果/低置信/无权限）+ 置信度阈值0.3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88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答案溯源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888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无引用或不可点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精确到文档/页码/段落，可点击跳转原文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8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前端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888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简单对话页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完整门户（首页/文档/空间/RAG/设置/扩展）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884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架构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88888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单体/Dify编排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微服务+Kafka异步解耦，每个服务可独立扩展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8000" y="7620000"/>
            <a:ext cx="15240000" cy="635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10" name="Text 7"/>
          <p:cNvSpPr/>
          <p:nvPr/>
        </p:nvSpPr>
        <p:spPr>
          <a:xfrm>
            <a:off x="762000" y="7620000"/>
            <a:ext cx="14732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总结：</a:t>
            </a:r>
            <a:r>
              <a:rPr lang="en-US" sz="15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小智回答了"有没有需求"，KB-Platform回答"能不能放心用、能不能持续优化"。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平台架构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KB-Platform 项目总览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508000" y="990600"/>
            <a:ext cx="152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4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不是做一个功能，是搭建一个企业级知识平台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1447800"/>
            <a:ext cx="15240000" cy="5842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9" name="Text 7"/>
          <p:cNvSpPr/>
          <p:nvPr/>
        </p:nvSpPr>
        <p:spPr>
          <a:xfrm>
            <a:off x="508000" y="1447800"/>
            <a:ext cx="15240000" cy="584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前端门户</a:t>
            </a:r>
            <a:r>
              <a:rPr lang="en-US" sz="15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（Next.js 14）→ kb-gateway（JWT鉴权、路由）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5400000">
            <a:off x="7823200" y="2032000"/>
            <a:ext cx="6096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11" name="Shape 9"/>
          <p:cNvSpPr/>
          <p:nvPr/>
        </p:nvSpPr>
        <p:spPr>
          <a:xfrm>
            <a:off x="508000" y="2286000"/>
            <a:ext cx="15240000" cy="1270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12" name="Text 10"/>
          <p:cNvSpPr/>
          <p:nvPr/>
        </p:nvSpPr>
        <p:spPr>
          <a:xfrm>
            <a:off x="635000" y="2336800"/>
            <a:ext cx="254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Java 微服务群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667000"/>
            <a:ext cx="3302000" cy="711200"/>
          </a:xfrm>
          <a:prstGeom prst="roundRect">
            <a:avLst>
              <a:gd name="adj" fmla="val 4000"/>
            </a:avLst>
          </a:prstGeom>
          <a:solidFill>
            <a:srgbClr val="3A6A9A"/>
          </a:solidFill>
        </p:spPr>
      </p:sp>
      <p:sp>
        <p:nvSpPr>
          <p:cNvPr id="14" name="Text 12"/>
          <p:cNvSpPr/>
          <p:nvPr/>
        </p:nvSpPr>
        <p:spPr>
          <a:xfrm>
            <a:off x="762000" y="2667000"/>
            <a:ext cx="33020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ingest-service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文档元数据/状态机/ACL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18000" y="2667000"/>
            <a:ext cx="3302000" cy="711200"/>
          </a:xfrm>
          <a:prstGeom prst="roundRect">
            <a:avLst>
              <a:gd name="adj" fmla="val 4000"/>
            </a:avLst>
          </a:prstGeom>
          <a:solidFill>
            <a:srgbClr val="3A6A9A"/>
          </a:solidFill>
        </p:spPr>
      </p:sp>
      <p:sp>
        <p:nvSpPr>
          <p:cNvPr id="16" name="Text 14"/>
          <p:cNvSpPr/>
          <p:nvPr/>
        </p:nvSpPr>
        <p:spPr>
          <a:xfrm>
            <a:off x="4318000" y="2667000"/>
            <a:ext cx="33020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vector-service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Milvus upsert/状态回写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74000" y="2667000"/>
            <a:ext cx="3556000" cy="711200"/>
          </a:xfrm>
          <a:prstGeom prst="roundRect">
            <a:avLst>
              <a:gd name="adj" fmla="val 4000"/>
            </a:avLst>
          </a:prstGeom>
          <a:solidFill>
            <a:srgbClr val="3A6A9A"/>
          </a:solidFill>
        </p:spPr>
      </p:sp>
      <p:sp>
        <p:nvSpPr>
          <p:cNvPr id="18" name="Text 16"/>
          <p:cNvSpPr/>
          <p:nvPr/>
        </p:nvSpPr>
        <p:spPr>
          <a:xfrm>
            <a:off x="7874000" y="2667000"/>
            <a:ext cx="35560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rag-service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检索编排/Query改写/Rerank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684000" y="2667000"/>
            <a:ext cx="3810000" cy="711200"/>
          </a:xfrm>
          <a:prstGeom prst="roundRect">
            <a:avLst>
              <a:gd name="adj" fmla="val 4000"/>
            </a:avLst>
          </a:prstGeom>
          <a:solidFill>
            <a:srgbClr val="3A6A9A"/>
          </a:solidFill>
        </p:spPr>
      </p:sp>
      <p:sp>
        <p:nvSpPr>
          <p:cNvPr id="20" name="Text 18"/>
          <p:cNvSpPr/>
          <p:nvPr/>
        </p:nvSpPr>
        <p:spPr>
          <a:xfrm>
            <a:off x="11684000" y="2667000"/>
            <a:ext cx="38100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llm-gateway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MiniMax代理/审计日志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823200" y="3556000"/>
            <a:ext cx="6096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22" name="Shape 20"/>
          <p:cNvSpPr/>
          <p:nvPr/>
        </p:nvSpPr>
        <p:spPr>
          <a:xfrm>
            <a:off x="508000" y="3810000"/>
            <a:ext cx="15240000" cy="1016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</p:spPr>
      </p:sp>
      <p:sp>
        <p:nvSpPr>
          <p:cNvPr id="23" name="Text 21"/>
          <p:cNvSpPr/>
          <p:nvPr/>
        </p:nvSpPr>
        <p:spPr>
          <a:xfrm>
            <a:off x="635000" y="3860800"/>
            <a:ext cx="254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 服务群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4165600"/>
            <a:ext cx="7112000" cy="558800"/>
          </a:xfrm>
          <a:prstGeom prst="roundRect">
            <a:avLst>
              <a:gd name="adj" fmla="val 4000"/>
            </a:avLst>
          </a:prstGeom>
          <a:solidFill>
            <a:srgbClr val="1E6A7E"/>
          </a:solidFill>
        </p:spPr>
      </p:sp>
      <p:sp>
        <p:nvSpPr>
          <p:cNvPr id="25" name="Text 23"/>
          <p:cNvSpPr/>
          <p:nvPr/>
        </p:nvSpPr>
        <p:spPr>
          <a:xfrm>
            <a:off x="762000" y="4165600"/>
            <a:ext cx="7112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kb-doc-processor</a:t>
            </a:r>
            <a:r>
              <a:rPr lang="en-US" sz="13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：Tika解析 → 清洗 → 分块 → Embedding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8000" y="4165600"/>
            <a:ext cx="7366000" cy="558800"/>
          </a:xfrm>
          <a:prstGeom prst="roundRect">
            <a:avLst>
              <a:gd name="adj" fmla="val 4000"/>
            </a:avLst>
          </a:prstGeom>
          <a:solidFill>
            <a:srgbClr val="1E6A7E"/>
          </a:solidFill>
        </p:spPr>
      </p:sp>
      <p:sp>
        <p:nvSpPr>
          <p:cNvPr id="27" name="Text 25"/>
          <p:cNvSpPr/>
          <p:nvPr/>
        </p:nvSpPr>
        <p:spPr>
          <a:xfrm>
            <a:off x="8128000" y="4165600"/>
            <a:ext cx="7366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rerank-service</a:t>
            </a:r>
            <a:r>
              <a:rPr lang="en-US" sz="13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：BGE-Reranker-v2-m3 本地精排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 rot="5400000">
            <a:off x="7823200" y="4826000"/>
            <a:ext cx="6096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29" name="Shape 27"/>
          <p:cNvSpPr/>
          <p:nvPr/>
        </p:nvSpPr>
        <p:spPr>
          <a:xfrm>
            <a:off x="508000" y="5080000"/>
            <a:ext cx="15240000" cy="762000"/>
          </a:xfrm>
          <a:prstGeom prst="roundRect">
            <a:avLst>
              <a:gd name="adj" fmla="val 4000"/>
            </a:avLst>
          </a:prstGeom>
          <a:solidFill>
            <a:srgbClr val="455A64"/>
          </a:solidFill>
        </p:spPr>
      </p:sp>
      <p:sp>
        <p:nvSpPr>
          <p:cNvPr id="30" name="Text 28"/>
          <p:cNvSpPr/>
          <p:nvPr/>
        </p:nvSpPr>
        <p:spPr>
          <a:xfrm>
            <a:off x="635000" y="5130800"/>
            <a:ext cx="2540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3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基础设施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5410200"/>
            <a:ext cx="14732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PostgreSQL + Redis + Milvus + Kafka + MinIO + Apache Tika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8000" y="6096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关键设计原则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08000" y="65024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34" name="Shape 32"/>
          <p:cNvSpPr/>
          <p:nvPr/>
        </p:nvSpPr>
        <p:spPr>
          <a:xfrm>
            <a:off x="508000" y="6654800"/>
            <a:ext cx="4826000" cy="1016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35" name="Text 33"/>
          <p:cNvSpPr/>
          <p:nvPr/>
        </p:nvSpPr>
        <p:spPr>
          <a:xfrm>
            <a:off x="711200" y="6731000"/>
            <a:ext cx="44196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微服务拆分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职责单一，可独立扩展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88000" y="6654800"/>
            <a:ext cx="4826000" cy="1016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37" name="Text 35"/>
          <p:cNvSpPr/>
          <p:nvPr/>
        </p:nvSpPr>
        <p:spPr>
          <a:xfrm>
            <a:off x="5791200" y="6731000"/>
            <a:ext cx="44196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Kafka异步解耦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文件上传后5分钟内可检索，削峰填谷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668000" y="6654800"/>
            <a:ext cx="5080000" cy="1016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39" name="Text 37"/>
          <p:cNvSpPr/>
          <p:nvPr/>
        </p:nvSpPr>
        <p:spPr>
          <a:xfrm>
            <a:off x="10871200" y="6731000"/>
            <a:ext cx="46736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契约优先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OpenAPI + Kafka Schema + Milvus Collection统一管控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平台架构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知识库建设核心逻辑：10步精密流水线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508000" y="965200"/>
            <a:ext cx="152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4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知识库不是"文件上传+向量入库"，而是 </a:t>
            </a: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10步精密流水线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1447800"/>
            <a:ext cx="2794000" cy="1524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9" name="Text 7"/>
          <p:cNvSpPr/>
          <p:nvPr/>
        </p:nvSpPr>
        <p:spPr>
          <a:xfrm>
            <a:off x="508000" y="1498600"/>
            <a:ext cx="279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3137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1879600"/>
            <a:ext cx="25908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Tika多格式解析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1844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PDF/Word/Excel/PPT/TXT等50+格式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52800" y="20320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13" name="Shape 11"/>
          <p:cNvSpPr/>
          <p:nvPr/>
        </p:nvSpPr>
        <p:spPr>
          <a:xfrm>
            <a:off x="3657600" y="1447800"/>
            <a:ext cx="2794000" cy="1524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14" name="Text 12"/>
          <p:cNvSpPr/>
          <p:nvPr/>
        </p:nvSpPr>
        <p:spPr>
          <a:xfrm>
            <a:off x="3657600" y="1498600"/>
            <a:ext cx="279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3137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59200" y="1879600"/>
            <a:ext cx="25908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TextCleaner五层清洗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59200" y="21844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编码规范→去HTML→全角转半角→去页眉页脚→压缩空行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02400" y="20320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18" name="Shape 16"/>
          <p:cNvSpPr/>
          <p:nvPr/>
        </p:nvSpPr>
        <p:spPr>
          <a:xfrm>
            <a:off x="6807200" y="1447800"/>
            <a:ext cx="2794000" cy="1524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</p:spPr>
      </p:sp>
      <p:sp>
        <p:nvSpPr>
          <p:cNvPr id="19" name="Text 17"/>
          <p:cNvSpPr/>
          <p:nvPr/>
        </p:nvSpPr>
        <p:spPr>
          <a:xfrm>
            <a:off x="6807200" y="1498600"/>
            <a:ext cx="279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3137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8800" y="1879600"/>
            <a:ext cx="25908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质量评分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8800" y="21844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初始100分，低质量标记告警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52000" y="20320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23" name="Shape 21"/>
          <p:cNvSpPr/>
          <p:nvPr/>
        </p:nvSpPr>
        <p:spPr>
          <a:xfrm>
            <a:off x="9956800" y="1447800"/>
            <a:ext cx="2794000" cy="1524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24" name="Text 22"/>
          <p:cNvSpPr/>
          <p:nvPr/>
        </p:nvSpPr>
        <p:spPr>
          <a:xfrm>
            <a:off x="9956800" y="1498600"/>
            <a:ext cx="279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3137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0" y="1879600"/>
            <a:ext cx="25908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智能分块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0" y="21844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5种模式：固定/语义/LLM精修等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801600" y="20320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28" name="Shape 26"/>
          <p:cNvSpPr/>
          <p:nvPr/>
        </p:nvSpPr>
        <p:spPr>
          <a:xfrm>
            <a:off x="13106400" y="1447800"/>
            <a:ext cx="2641600" cy="1524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29" name="Text 27"/>
          <p:cNvSpPr/>
          <p:nvPr/>
        </p:nvSpPr>
        <p:spPr>
          <a:xfrm>
            <a:off x="13106400" y="1498600"/>
            <a:ext cx="26416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3137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08000" y="1879600"/>
            <a:ext cx="24384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Parent-Child架构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208000" y="2184400"/>
            <a:ext cx="24384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Parent=完整语义单元，Child=检索单元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8000" y="3175000"/>
            <a:ext cx="2794000" cy="1524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</p:spPr>
      </p:sp>
      <p:sp>
        <p:nvSpPr>
          <p:cNvPr id="33" name="Text 31"/>
          <p:cNvSpPr/>
          <p:nvPr/>
        </p:nvSpPr>
        <p:spPr>
          <a:xfrm>
            <a:off x="508000" y="3225800"/>
            <a:ext cx="279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3137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9600" y="3606800"/>
            <a:ext cx="25908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ChunkType语义推断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9600" y="39116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definition/procedure/rule/example/disclaimer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352800" y="37592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37" name="Shape 35"/>
          <p:cNvSpPr/>
          <p:nvPr/>
        </p:nvSpPr>
        <p:spPr>
          <a:xfrm>
            <a:off x="3657600" y="3175000"/>
            <a:ext cx="2794000" cy="1524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38" name="Text 36"/>
          <p:cNvSpPr/>
          <p:nvPr/>
        </p:nvSpPr>
        <p:spPr>
          <a:xfrm>
            <a:off x="3657600" y="3225800"/>
            <a:ext cx="279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3137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759200" y="3606800"/>
            <a:ext cx="25908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Embedding向量化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759200" y="39116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BGE-zh-v1.5，1024维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02400" y="37592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42" name="Shape 40"/>
          <p:cNvSpPr/>
          <p:nvPr/>
        </p:nvSpPr>
        <p:spPr>
          <a:xfrm>
            <a:off x="6807200" y="3175000"/>
            <a:ext cx="2794000" cy="1524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43" name="Text 41"/>
          <p:cNvSpPr/>
          <p:nvPr/>
        </p:nvSpPr>
        <p:spPr>
          <a:xfrm>
            <a:off x="6807200" y="3225800"/>
            <a:ext cx="279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3137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08800" y="3606800"/>
            <a:ext cx="25908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元数据展平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08800" y="39116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tags/sec_level/perm_group/region/biz_domain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652000" y="37592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47" name="Shape 45"/>
          <p:cNvSpPr/>
          <p:nvPr/>
        </p:nvSpPr>
        <p:spPr>
          <a:xfrm>
            <a:off x="9956800" y="3175000"/>
            <a:ext cx="2794000" cy="1524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</p:spPr>
      </p:sp>
      <p:sp>
        <p:nvSpPr>
          <p:cNvPr id="48" name="Text 46"/>
          <p:cNvSpPr/>
          <p:nvPr/>
        </p:nvSpPr>
        <p:spPr>
          <a:xfrm>
            <a:off x="9956800" y="3225800"/>
            <a:ext cx="27940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3137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058400" y="3606800"/>
            <a:ext cx="25908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持久化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058400" y="39116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knowledge_clean + knowledge_structured + embed_task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2801600" y="3759200"/>
            <a:ext cx="254000" cy="20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52" name="Shape 50"/>
          <p:cNvSpPr/>
          <p:nvPr/>
        </p:nvSpPr>
        <p:spPr>
          <a:xfrm>
            <a:off x="13106400" y="3175000"/>
            <a:ext cx="2641600" cy="1524000"/>
          </a:xfrm>
          <a:prstGeom prst="roundRect">
            <a:avLst>
              <a:gd name="adj" fmla="val 4000"/>
            </a:avLst>
          </a:prstGeom>
          <a:solidFill>
            <a:srgbClr val="27AE60"/>
          </a:solidFill>
        </p:spPr>
      </p:sp>
      <p:sp>
        <p:nvSpPr>
          <p:cNvPr id="53" name="Text 51"/>
          <p:cNvSpPr/>
          <p:nvPr/>
        </p:nvSpPr>
        <p:spPr>
          <a:xfrm>
            <a:off x="13106400" y="3225800"/>
            <a:ext cx="2641600" cy="3556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3137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3208000" y="3606800"/>
            <a:ext cx="24384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向量化入库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3208000" y="3911600"/>
            <a:ext cx="2438400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Kafka→vector-service→Milvus upsert→READY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08000" y="5003800"/>
            <a:ext cx="15240000" cy="1270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57" name="Text 55"/>
          <p:cNvSpPr/>
          <p:nvPr/>
        </p:nvSpPr>
        <p:spPr>
          <a:xfrm>
            <a:off x="762000" y="50800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与小智的关键差异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62000" y="5435600"/>
            <a:ext cx="14732000" cy="711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小智：</a:t>
            </a: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"请大模型帮我把这个文件处理一下" → 黑盒、不可控、不可观测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7AE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KB-Platform：</a:t>
            </a: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每一步都可观测、可配置、可重试，前端展示完整流水线进度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08000" y="6477000"/>
            <a:ext cx="1524000" cy="381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60" name="Text 58"/>
          <p:cNvSpPr/>
          <p:nvPr/>
        </p:nvSpPr>
        <p:spPr>
          <a:xfrm>
            <a:off x="508000" y="6477000"/>
            <a:ext cx="152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输入：文件上传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4224000" y="6477000"/>
            <a:ext cx="1524000" cy="381000"/>
          </a:xfrm>
          <a:prstGeom prst="roundRect">
            <a:avLst>
              <a:gd name="adj" fmla="val 4000"/>
            </a:avLst>
          </a:prstGeom>
          <a:solidFill>
            <a:srgbClr val="27AE60"/>
          </a:solidFill>
        </p:spPr>
      </p:sp>
      <p:sp>
        <p:nvSpPr>
          <p:cNvPr id="62" name="Text 60"/>
          <p:cNvSpPr/>
          <p:nvPr/>
        </p:nvSpPr>
        <p:spPr>
          <a:xfrm>
            <a:off x="14224000" y="6477000"/>
            <a:ext cx="152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输出：READY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 平台架构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智能问答核心逻辑：12步精密Pipeline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508000" y="965200"/>
            <a:ext cx="152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4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一个高质量的企业问答，是 </a:t>
            </a: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12步精密Pipeline</a:t>
            </a:r>
            <a:r>
              <a:rPr lang="en-US" sz="14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，每一步都有明确职责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1422400"/>
            <a:ext cx="2349500" cy="1270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9" name="Text 7"/>
          <p:cNvSpPr/>
          <p:nvPr/>
        </p:nvSpPr>
        <p:spPr>
          <a:xfrm>
            <a:off x="584200" y="1498600"/>
            <a:ext cx="2197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缓存检查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Redis命中直接返回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08300" y="19050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11" name="Shape 9"/>
          <p:cNvSpPr/>
          <p:nvPr/>
        </p:nvSpPr>
        <p:spPr>
          <a:xfrm>
            <a:off x="3187700" y="1422400"/>
            <a:ext cx="2349500" cy="1270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12" name="Text 10"/>
          <p:cNvSpPr/>
          <p:nvPr/>
        </p:nvSpPr>
        <p:spPr>
          <a:xfrm>
            <a:off x="3263900" y="1498600"/>
            <a:ext cx="2197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会话上下文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最多10轮，TTL 1800s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88000" y="19050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14" name="Shape 12"/>
          <p:cNvSpPr/>
          <p:nvPr/>
        </p:nvSpPr>
        <p:spPr>
          <a:xfrm>
            <a:off x="5867400" y="1422400"/>
            <a:ext cx="2349500" cy="1270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</p:spPr>
      </p:sp>
      <p:sp>
        <p:nvSpPr>
          <p:cNvPr id="15" name="Text 13"/>
          <p:cNvSpPr/>
          <p:nvPr/>
        </p:nvSpPr>
        <p:spPr>
          <a:xfrm>
            <a:off x="5943600" y="1498600"/>
            <a:ext cx="2197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查询改写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同义词+指代消解+条款增强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67700" y="19050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17" name="Shape 15"/>
          <p:cNvSpPr/>
          <p:nvPr/>
        </p:nvSpPr>
        <p:spPr>
          <a:xfrm>
            <a:off x="8547100" y="1422400"/>
            <a:ext cx="2349500" cy="1270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18" name="Text 16"/>
          <p:cNvSpPr/>
          <p:nvPr/>
        </p:nvSpPr>
        <p:spPr>
          <a:xfrm>
            <a:off x="8623300" y="1498600"/>
            <a:ext cx="2197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查询向量化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BGE-zh-v1.5，1024维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47400" y="19050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20" name="Shape 18"/>
          <p:cNvSpPr/>
          <p:nvPr/>
        </p:nvSpPr>
        <p:spPr>
          <a:xfrm>
            <a:off x="11226800" y="1422400"/>
            <a:ext cx="2349500" cy="1270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21" name="Text 19"/>
          <p:cNvSpPr/>
          <p:nvPr/>
        </p:nvSpPr>
        <p:spPr>
          <a:xfrm>
            <a:off x="11303000" y="1498600"/>
            <a:ext cx="2197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Dense检索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Milvus COSINE，TopK=50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627100" y="19050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23" name="Shape 21"/>
          <p:cNvSpPr/>
          <p:nvPr/>
        </p:nvSpPr>
        <p:spPr>
          <a:xfrm>
            <a:off x="13906500" y="1422400"/>
            <a:ext cx="1841500" cy="1270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</p:spPr>
      </p:sp>
      <p:sp>
        <p:nvSpPr>
          <p:cNvPr id="24" name="Text 22"/>
          <p:cNvSpPr/>
          <p:nvPr/>
        </p:nvSpPr>
        <p:spPr>
          <a:xfrm>
            <a:off x="13982700" y="1498600"/>
            <a:ext cx="1689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ACL过滤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sec_level/perm_group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8000" y="2895600"/>
            <a:ext cx="2349500" cy="1270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</p:spPr>
      </p:sp>
      <p:sp>
        <p:nvSpPr>
          <p:cNvPr id="26" name="Text 24"/>
          <p:cNvSpPr/>
          <p:nvPr/>
        </p:nvSpPr>
        <p:spPr>
          <a:xfrm>
            <a:off x="584200" y="2971800"/>
            <a:ext cx="2197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07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知识空间过滤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按spaceId子树过滤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908300" y="33782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28" name="Shape 26"/>
          <p:cNvSpPr/>
          <p:nvPr/>
        </p:nvSpPr>
        <p:spPr>
          <a:xfrm>
            <a:off x="3187700" y="2895600"/>
            <a:ext cx="2349500" cy="1270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29" name="Text 27"/>
          <p:cNvSpPr/>
          <p:nvPr/>
        </p:nvSpPr>
        <p:spPr>
          <a:xfrm>
            <a:off x="3263900" y="2971800"/>
            <a:ext cx="2197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08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Rerank精排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BGE-Reranker，Top20→Top5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588000" y="33782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31" name="Shape 29"/>
          <p:cNvSpPr/>
          <p:nvPr/>
        </p:nvSpPr>
        <p:spPr>
          <a:xfrm>
            <a:off x="5867400" y="2895600"/>
            <a:ext cx="2349500" cy="1270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32" name="Text 30"/>
          <p:cNvSpPr/>
          <p:nvPr/>
        </p:nvSpPr>
        <p:spPr>
          <a:xfrm>
            <a:off x="5943600" y="2971800"/>
            <a:ext cx="2197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09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DB ACL校验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PostgreSQL精确校验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67700" y="33782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34" name="Shape 32"/>
          <p:cNvSpPr/>
          <p:nvPr/>
        </p:nvSpPr>
        <p:spPr>
          <a:xfrm>
            <a:off x="8547100" y="2895600"/>
            <a:ext cx="2349500" cy="1270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</p:spPr>
      </p:sp>
      <p:sp>
        <p:nvSpPr>
          <p:cNvPr id="35" name="Text 33"/>
          <p:cNvSpPr/>
          <p:nvPr/>
        </p:nvSpPr>
        <p:spPr>
          <a:xfrm>
            <a:off x="8623300" y="2971800"/>
            <a:ext cx="2197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Parent回捞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回捞完整上下文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947400" y="33782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37" name="Shape 35"/>
          <p:cNvSpPr/>
          <p:nvPr/>
        </p:nvSpPr>
        <p:spPr>
          <a:xfrm>
            <a:off x="11226800" y="2895600"/>
            <a:ext cx="2349500" cy="1270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38" name="Text 36"/>
          <p:cNvSpPr/>
          <p:nvPr/>
        </p:nvSpPr>
        <p:spPr>
          <a:xfrm>
            <a:off x="11303000" y="2971800"/>
            <a:ext cx="2197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11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拒答判断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无结果/低置信/无权限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627100" y="3378200"/>
            <a:ext cx="228600" cy="17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40" name="Shape 38"/>
          <p:cNvSpPr/>
          <p:nvPr/>
        </p:nvSpPr>
        <p:spPr>
          <a:xfrm>
            <a:off x="13906500" y="2895600"/>
            <a:ext cx="1841500" cy="1270000"/>
          </a:xfrm>
          <a:prstGeom prst="roundRect">
            <a:avLst>
              <a:gd name="adj" fmla="val 4000"/>
            </a:avLst>
          </a:prstGeom>
          <a:solidFill>
            <a:srgbClr val="27AE60"/>
          </a:solidFill>
        </p:spPr>
      </p:sp>
      <p:sp>
        <p:nvSpPr>
          <p:cNvPr id="41" name="Text 39"/>
          <p:cNvSpPr/>
          <p:nvPr/>
        </p:nvSpPr>
        <p:spPr>
          <a:xfrm>
            <a:off x="13982700" y="2971800"/>
            <a:ext cx="1689100" cy="1117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314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LLM生成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Token预算+引用返回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8000" y="44196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四大关键创新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08000" y="48260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44" name="Shape 42"/>
          <p:cNvSpPr/>
          <p:nvPr/>
        </p:nvSpPr>
        <p:spPr>
          <a:xfrm>
            <a:off x="508000" y="4978400"/>
            <a:ext cx="3556000" cy="1524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45" name="Text 43"/>
          <p:cNvSpPr/>
          <p:nvPr/>
        </p:nvSpPr>
        <p:spPr>
          <a:xfrm>
            <a:off x="711200" y="5080000"/>
            <a:ext cx="3149600" cy="1320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三级拒答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区分"知识库没有"/"您没权限"/"召回质量差"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18000" y="4978400"/>
            <a:ext cx="3556000" cy="1524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47" name="Text 45"/>
          <p:cNvSpPr/>
          <p:nvPr/>
        </p:nvSpPr>
        <p:spPr>
          <a:xfrm>
            <a:off x="4521200" y="5080000"/>
            <a:ext cx="3149600" cy="1320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Token预算控制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上下文窗口8192，输入预算75%，超长自动压缩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28000" y="4978400"/>
            <a:ext cx="3556000" cy="1524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49" name="Text 47"/>
          <p:cNvSpPr/>
          <p:nvPr/>
        </p:nvSpPr>
        <p:spPr>
          <a:xfrm>
            <a:off x="8331200" y="5080000"/>
            <a:ext cx="3149600" cy="1320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Parent-Child回捞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检索用"子弹"精确命中，生成用"炮弹"提供完整上下文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938000" y="4978400"/>
            <a:ext cx="3810000" cy="1524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51" name="Text 49"/>
          <p:cNvSpPr/>
          <p:nvPr/>
        </p:nvSpPr>
        <p:spPr>
          <a:xfrm>
            <a:off x="12141200" y="5080000"/>
            <a:ext cx="3403600" cy="1320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全链路Trace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trace_id贯穿前端→网关→所有微服务→Kafka→Milvus→LLM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 核心亮点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亮点一：双层渐进式智能分片 + Parent-Child架构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508000" y="965200"/>
            <a:ext cx="152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4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别人是"一刀切"，我们是"手术刀式"精准切片；检索用"子弹"，生成用"炮弹"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08000" y="1422400"/>
          <a:ext cx="15240000" cy="2794000"/>
        </p:xfrm>
        <a:graphic>
          <a:graphicData uri="http://schemas.openxmlformats.org/drawingml/2006/table">
            <a:tbl>
              <a:tblPr/>
              <a:tblGrid>
                <a:gridCol w="1219200"/>
                <a:gridCol w="2743200"/>
                <a:gridCol w="5334000"/>
                <a:gridCol w="59436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模式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作用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L1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HEAD/TAIL/UNIFORM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基础固定长度切分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简单文档、快速入库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L2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SMART（规则语义）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按章节/条款边界切分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制度文件、法规条文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L3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SMART_LLM（LLM精修）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LLM判定最佳切分点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复杂结构文档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L4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86C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Parent-Child架构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小块检索 + 大块生成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所有语义切片模式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L5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Fallback机制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LLM失败自动回退规则引擎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全场景兜底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8000" y="4394200"/>
            <a:ext cx="508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Parent-Child 运作逻辑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4800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8" name="Shape 8"/>
          <p:cNvSpPr/>
          <p:nvPr/>
        </p:nvSpPr>
        <p:spPr>
          <a:xfrm>
            <a:off x="508000" y="4978400"/>
            <a:ext cx="4826000" cy="1397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12" name="Text 9"/>
          <p:cNvSpPr/>
          <p:nvPr/>
        </p:nvSpPr>
        <p:spPr>
          <a:xfrm>
            <a:off x="711200" y="5080000"/>
            <a:ext cx="4419600" cy="1193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入库阶段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SemanticChunker识别章节 → 生成Parent（1500字符） → 滑动窗口切Child（400字符检索单元）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35600" y="55372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14" name="Shape 11"/>
          <p:cNvSpPr/>
          <p:nvPr/>
        </p:nvSpPr>
        <p:spPr>
          <a:xfrm>
            <a:off x="5842000" y="4978400"/>
            <a:ext cx="4318000" cy="1397000"/>
          </a:xfrm>
          <a:prstGeom prst="roundRect">
            <a:avLst>
              <a:gd name="adj" fmla="val 4000"/>
            </a:avLst>
          </a:prstGeom>
          <a:solidFill>
            <a:srgbClr val="5B9BD5"/>
          </a:solidFill>
        </p:spPr>
      </p:sp>
      <p:sp>
        <p:nvSpPr>
          <p:cNvPr id="15" name="Text 12"/>
          <p:cNvSpPr/>
          <p:nvPr/>
        </p:nvSpPr>
        <p:spPr>
          <a:xfrm>
            <a:off x="6045200" y="5080000"/>
            <a:ext cx="3911600" cy="1193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检索阶段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Child小块进入Milvus，精确匹配query，实现精准召回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261600" y="5537200"/>
            <a:ext cx="3048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9BD5"/>
          </a:solidFill>
        </p:spPr>
      </p:sp>
      <p:sp>
        <p:nvSpPr>
          <p:cNvPr id="17" name="Shape 14"/>
          <p:cNvSpPr/>
          <p:nvPr/>
        </p:nvSpPr>
        <p:spPr>
          <a:xfrm>
            <a:off x="10668000" y="4978400"/>
            <a:ext cx="5080000" cy="1397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</p:spPr>
      </p:sp>
      <p:sp>
        <p:nvSpPr>
          <p:cNvPr id="18" name="Text 15"/>
          <p:cNvSpPr/>
          <p:nvPr/>
        </p:nvSpPr>
        <p:spPr>
          <a:xfrm>
            <a:off x="10871200" y="5080000"/>
            <a:ext cx="4673600" cy="1193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生成阶段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根据parent_ref回捞Parent完整文本 → 喂给LLM生成高质量回答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8000" y="6654800"/>
            <a:ext cx="15240000" cy="7112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20" name="Text 17"/>
          <p:cNvSpPr/>
          <p:nvPr/>
        </p:nvSpPr>
        <p:spPr>
          <a:xfrm>
            <a:off x="762000" y="6654800"/>
            <a:ext cx="14732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"用小钥匙开门，用大房间装答案。"</a:t>
            </a:r>
            <a:r>
              <a:rPr lang="en-US" sz="16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— Child小块精准检索，Parent大块完整生成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8000" y="7569200"/>
            <a:ext cx="152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小智：</a:t>
            </a:r>
            <a:r>
              <a:rPr lang="en-US" sz="1400" dirty="0">
                <a:solidFill>
                  <a:srgbClr val="88888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"不切片或乱切片" → 检索要么召回超大段噪声，要么召回碎片化文本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 核心亮点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亮点二：全链路可观测 + 企业级权限模型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Shape 5"/>
          <p:cNvSpPr/>
          <p:nvPr/>
        </p:nvSpPr>
        <p:spPr>
          <a:xfrm>
            <a:off x="508000" y="1041400"/>
            <a:ext cx="7493000" cy="508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8" name="Text 6"/>
          <p:cNvSpPr/>
          <p:nvPr/>
        </p:nvSpPr>
        <p:spPr>
          <a:xfrm>
            <a:off x="508000" y="1041400"/>
            <a:ext cx="7493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全链路可观测性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1600200"/>
            <a:ext cx="7493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8888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别人回答错了不知道为啥，我们每一步都能追溯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1955800"/>
            <a:ext cx="7493000" cy="508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</p:spPr>
      </p:sp>
      <p:sp>
        <p:nvSpPr>
          <p:cNvPr id="11" name="Text 9"/>
          <p:cNvSpPr/>
          <p:nvPr/>
        </p:nvSpPr>
        <p:spPr>
          <a:xfrm>
            <a:off x="711200" y="2108200"/>
            <a:ext cx="7086600" cy="4775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Pipeline Trace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trace_id贯穿全链路，回答错了5分钟定位问题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阶段耗时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改写/检索/Rerank/生成各阶段毫秒级监控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召回详情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召回多少条、Rerank后保留几条，透明可见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Prompt预算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预算多少、实际用了多少、哪些引用被压缩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首Token时间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流式输出用户多久看到第一个字，P95目标&lt;1.5秒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55000" y="1041400"/>
            <a:ext cx="7493000" cy="508000"/>
          </a:xfrm>
          <a:prstGeom prst="roundRect">
            <a:avLst>
              <a:gd name="adj" fmla="val 4000"/>
            </a:avLst>
          </a:prstGeom>
          <a:solidFill>
            <a:srgbClr val="2E86C1"/>
          </a:solidFill>
        </p:spPr>
      </p:sp>
      <p:sp>
        <p:nvSpPr>
          <p:cNvPr id="13" name="Text 11"/>
          <p:cNvSpPr/>
          <p:nvPr/>
        </p:nvSpPr>
        <p:spPr>
          <a:xfrm>
            <a:off x="8255000" y="1041400"/>
            <a:ext cx="7493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企业级权限模型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5000" y="1600200"/>
            <a:ext cx="7493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88888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不是"能不能用"，而是"谁能看什么级别的内容"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5000" y="1955800"/>
            <a:ext cx="7493000" cy="5080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</p:spPr>
      </p:sp>
      <p:sp>
        <p:nvSpPr>
          <p:cNvPr id="16" name="Text 14"/>
          <p:cNvSpPr/>
          <p:nvPr/>
        </p:nvSpPr>
        <p:spPr>
          <a:xfrm>
            <a:off x="8458200" y="2108200"/>
            <a:ext cx="7086600" cy="4775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2E86C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多维度ACL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租户隔离 + 密级(sec_level) + 权限组(perm_group) + 地区(region_code) + 业务域(biz_domain) + 生效期(effective_to) + 文档级ACL(doc_acl)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2E86C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两道防线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防线1：</a:t>
            </a: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Milvus预过滤（快，缩小候选集）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防线2：</a:t>
            </a: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PostgreSQL二次校验（权威，精确授权）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小智缺失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仅有基础三级权限，无权限组、无地区/业务域隔离、无生效期控制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 实施规划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阶段规划总览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508000" y="965200"/>
            <a:ext cx="152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4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分阶段交付，降低风险，每阶段都有可验收的成果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1447800"/>
            <a:ext cx="4826000" cy="4826000"/>
          </a:xfrm>
          <a:prstGeom prst="roundRect">
            <a:avLst>
              <a:gd name="adj" fmla="val 4000"/>
            </a:avLst>
          </a:prstGeom>
          <a:solidFill>
            <a:srgbClr val="27AE60"/>
          </a:solidFill>
        </p:spPr>
      </p:sp>
      <p:sp>
        <p:nvSpPr>
          <p:cNvPr id="9" name="Shape 7"/>
          <p:cNvSpPr/>
          <p:nvPr/>
        </p:nvSpPr>
        <p:spPr>
          <a:xfrm>
            <a:off x="508000" y="1447800"/>
            <a:ext cx="4826000" cy="558800"/>
          </a:xfrm>
          <a:prstGeom prst="roundRect">
            <a:avLst>
              <a:gd name="adj" fmla="val 4000"/>
            </a:avLst>
          </a:prstGeom>
          <a:solidFill>
            <a:srgbClr val="1E7E34"/>
          </a:solidFill>
        </p:spPr>
      </p:sp>
      <p:sp>
        <p:nvSpPr>
          <p:cNvPr id="10" name="Text 8"/>
          <p:cNvSpPr/>
          <p:nvPr/>
        </p:nvSpPr>
        <p:spPr>
          <a:xfrm>
            <a:off x="508000" y="1447800"/>
            <a:ext cx="4826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第一阶段 · 已基本完成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1200" y="2159000"/>
            <a:ext cx="44196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MVP可用闭环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1200" y="2590800"/>
            <a:ext cx="4419600" cy="3479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核心交付：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文档上传→解析→切片→入库→RAG问答全链路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解决什么问题：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证明"能做"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与小智关系：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小智功能全覆盖 + 架构全面升级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1447800"/>
            <a:ext cx="4826000" cy="4826000"/>
          </a:xfrm>
          <a:prstGeom prst="roundRect">
            <a:avLst>
              <a:gd name="adj" fmla="val 4000"/>
            </a:avLst>
          </a:prstGeom>
          <a:solidFill>
            <a:srgbClr val="F39C12"/>
          </a:solidFill>
        </p:spPr>
      </p:sp>
      <p:sp>
        <p:nvSpPr>
          <p:cNvPr id="14" name="Shape 12"/>
          <p:cNvSpPr/>
          <p:nvPr/>
        </p:nvSpPr>
        <p:spPr>
          <a:xfrm>
            <a:off x="5715000" y="1447800"/>
            <a:ext cx="4826000" cy="558800"/>
          </a:xfrm>
          <a:prstGeom prst="roundRect">
            <a:avLst>
              <a:gd name="adj" fmla="val 4000"/>
            </a:avLst>
          </a:prstGeom>
          <a:solidFill>
            <a:srgbClr val="C7850F"/>
          </a:solidFill>
        </p:spPr>
      </p:sp>
      <p:sp>
        <p:nvSpPr>
          <p:cNvPr id="15" name="Text 13"/>
          <p:cNvSpPr/>
          <p:nvPr/>
        </p:nvSpPr>
        <p:spPr>
          <a:xfrm>
            <a:off x="5715000" y="1447800"/>
            <a:ext cx="4826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第二阶段 · 4-6周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18200" y="2159000"/>
            <a:ext cx="44196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检索与问答增强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18200" y="2590800"/>
            <a:ext cx="4419600" cy="3479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核心交付：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多路召回、LLM查询改写、意图路由、FAQ短路、条款Fast Path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解决什么问题：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解决"找不准"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与小智关系：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小智无法做到的精准检索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922000" y="1447800"/>
            <a:ext cx="4826000" cy="4826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19" name="Shape 17"/>
          <p:cNvSpPr/>
          <p:nvPr/>
        </p:nvSpPr>
        <p:spPr>
          <a:xfrm>
            <a:off x="10922000" y="1447800"/>
            <a:ext cx="4826000" cy="558800"/>
          </a:xfrm>
          <a:prstGeom prst="roundRect">
            <a:avLst>
              <a:gd name="adj" fmla="val 4000"/>
            </a:avLst>
          </a:prstGeom>
          <a:solidFill>
            <a:srgbClr val="123960"/>
          </a:solidFill>
        </p:spPr>
      </p:sp>
      <p:sp>
        <p:nvSpPr>
          <p:cNvPr id="20" name="Text 18"/>
          <p:cNvSpPr/>
          <p:nvPr/>
        </p:nvSpPr>
        <p:spPr>
          <a:xfrm>
            <a:off x="10922000" y="1447800"/>
            <a:ext cx="4826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第三阶段 · 6-8周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25200" y="2159000"/>
            <a:ext cx="44196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企业级治理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25200" y="2590800"/>
            <a:ext cx="4419600" cy="3479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核心交付：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权限打通、评测体系、反馈闭环、审计成本治理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解决什么问题：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解决"敢不敢用"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与小智关系：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小智完全没有的企业级治理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8000" y="6527800"/>
            <a:ext cx="15240000" cy="1016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24" name="Text 22"/>
          <p:cNvSpPr/>
          <p:nvPr/>
        </p:nvSpPr>
        <p:spPr>
          <a:xfrm>
            <a:off x="762000" y="6604000"/>
            <a:ext cx="147320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关键逻辑：</a:t>
            </a:r>
            <a:r>
              <a:rPr lang="en-US" sz="15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跳过第二阶段 → "系统很安全但回答总是错的"；跳过第三阶段 → "回答对了但不该看的人也能看"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三阶段是工程上的自然分层，也是风险控制的必要节奏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 实施规划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第二阶段：多路召回 — 为什么必须做？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508000" y="965200"/>
            <a:ext cx="152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4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单路Dense检索有明确天花板，企业知识库</a:t>
            </a: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40-50%查询是"精确编号+语义理解"混合体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3716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6个真实Badcase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752600"/>
            <a:ext cx="4826000" cy="1143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</p:spPr>
      </p:sp>
      <p:sp>
        <p:nvSpPr>
          <p:cNvPr id="10" name="Text 8"/>
          <p:cNvSpPr/>
          <p:nvPr/>
        </p:nvSpPr>
        <p:spPr>
          <a:xfrm>
            <a:off x="660400" y="1828800"/>
            <a:ext cx="45212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精确条款</a:t>
            </a: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："第十六条规定是什么"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经常召回第十五或十七条，向量对数字不敏感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88000" y="1752600"/>
            <a:ext cx="4826000" cy="1143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</p:spPr>
      </p:sp>
      <p:sp>
        <p:nvSpPr>
          <p:cNvPr id="12" name="Text 10"/>
          <p:cNvSpPr/>
          <p:nvPr/>
        </p:nvSpPr>
        <p:spPr>
          <a:xfrm>
            <a:off x="5740400" y="1828800"/>
            <a:ext cx="45212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专有名词</a:t>
            </a: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："A-2024-09文件责任边界"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编号类token缺乏区分度，召回不到或偏差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752600"/>
            <a:ext cx="5080000" cy="1143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</p:spPr>
      </p:sp>
      <p:sp>
        <p:nvSpPr>
          <p:cNvPr id="14" name="Text 12"/>
          <p:cNvSpPr/>
          <p:nvPr/>
        </p:nvSpPr>
        <p:spPr>
          <a:xfrm>
            <a:off x="10820400" y="1828800"/>
            <a:ext cx="47752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高频重复</a:t>
            </a: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："请假流程是什么"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每次走完整RAG（3-8秒），无FAQ缓存，成本高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3022600"/>
            <a:ext cx="4826000" cy="1143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</p:spPr>
      </p:sp>
      <p:sp>
        <p:nvSpPr>
          <p:cNvPr id="16" name="Text 14"/>
          <p:cNvSpPr/>
          <p:nvPr/>
        </p:nvSpPr>
        <p:spPr>
          <a:xfrm>
            <a:off x="660400" y="3098800"/>
            <a:ext cx="45212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一词多义</a:t>
            </a: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："年假"vs"带薪休假"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同义词靠硬编码，覆盖不全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88000" y="3022600"/>
            <a:ext cx="4826000" cy="1143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</p:spPr>
      </p:sp>
      <p:sp>
        <p:nvSpPr>
          <p:cNvPr id="18" name="Text 16"/>
          <p:cNvSpPr/>
          <p:nvPr/>
        </p:nvSpPr>
        <p:spPr>
          <a:xfrm>
            <a:off x="5740400" y="3098800"/>
            <a:ext cx="45212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复杂追问</a:t>
            </a: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："刚才说的，第三条怎么执行"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指代消解失败，规则覆盖不了多轮上下文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668000" y="3022600"/>
            <a:ext cx="5080000" cy="1143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</p:spPr>
      </p:sp>
      <p:sp>
        <p:nvSpPr>
          <p:cNvPr id="20" name="Text 18"/>
          <p:cNvSpPr/>
          <p:nvPr/>
        </p:nvSpPr>
        <p:spPr>
          <a:xfrm>
            <a:off x="10820400" y="3098800"/>
            <a:ext cx="47752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非知识问题</a:t>
            </a: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："今天天气怎么样"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强行走RAG，幻觉严重，无意图分类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8000" y="43688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7AE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六大功能解决方案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508000" y="4749800"/>
          <a:ext cx="15240000" cy="3175000"/>
        </p:xfrm>
        <a:graphic>
          <a:graphicData uri="http://schemas.openxmlformats.org/drawingml/2006/table">
            <a:tbl>
              <a:tblPr/>
              <a:tblGrid>
                <a:gridCol w="2743200"/>
                <a:gridCol w="4267200"/>
                <a:gridCol w="4876800"/>
                <a:gridCol w="3352800"/>
              </a:tblGrid>
              <a:tr h="44272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解决什么问题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方案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收益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4553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BM25关键词召回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向量对编号、专有名词不敏感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PG倒排索引+jieba分词+审计词典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Recall@5: 45%→75%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53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FAQ高置信短路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高频问题每次都走完整RAG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FAQ向量库，cosine≥0.92直接返回答案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3s→100ms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53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条款编号Fast Path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问"第3条"给一堆相关制度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直接匹配section_path，不走检索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&lt;200ms, &gt;90%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53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RRF多路融合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三路召回分数不可比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Reciprocal Rank Fusion（k=60）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Recall@10提升36%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53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LLM查询改写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同义词覆盖不全、多轮指代失败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输出结构化JSON（mainQuery+subQueries+intent）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准确率40%→75%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53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意图路由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闲聊/查通讯录都走RAG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规则Fast Path+LLM分类，6条链路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无效RAG减少60%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 实施规划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第二阶段：验收指标与投入产出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508000" y="965200"/>
            <a:ext cx="152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4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第二阶段不是"做更多功能"，是"用数据证明召回质量真的提升了"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8000" y="1422400"/>
          <a:ext cx="9906000" cy="4064000"/>
        </p:xfrm>
        <a:graphic>
          <a:graphicData uri="http://schemas.openxmlformats.org/drawingml/2006/table">
            <a:tbl>
              <a:tblPr/>
              <a:tblGrid>
                <a:gridCol w="1485900"/>
                <a:gridCol w="2773680"/>
                <a:gridCol w="1485900"/>
                <a:gridCol w="1783080"/>
                <a:gridCol w="237744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指标名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当前基线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第二阶段目标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验证方式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457200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检索质量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精确条款Recall@5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~45%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&gt;75%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人工标注50条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整体Recall@10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~55%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&gt;75%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评测集100条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引用准确率Top3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~70%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&gt;85%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人工核对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性能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高频FAQ延迟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3-8s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&lt;500ms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压测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条款Fast Path延迟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3-8s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&lt;200ms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压测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RAG首Token P95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~2.5s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&lt;1.5s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压测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成本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高频问题LLM调用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日志统计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用户体验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多轮对话准确率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~40%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&gt;75%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人工评测30组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922000" y="1422400"/>
            <a:ext cx="482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投入产出分析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922000" y="1828800"/>
            <a:ext cx="2540000" cy="25400"/>
          </a:xfrm>
          <a:prstGeom prst="rect">
            <a:avLst/>
          </a:prstGeom>
          <a:solidFill>
            <a:srgbClr val="5B9BD5"/>
          </a:solidFill>
        </p:spPr>
      </p:sp>
      <p:sp>
        <p:nvSpPr>
          <p:cNvPr id="11" name="Text 8"/>
          <p:cNvSpPr/>
          <p:nvPr/>
        </p:nvSpPr>
        <p:spPr>
          <a:xfrm>
            <a:off x="10922000" y="2006600"/>
            <a:ext cx="4826000" cy="3479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开发周期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4-6周（2-3名后端工程师）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27AE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最高ROI功能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FAQ短路</a:t>
            </a: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（1周）+ </a:t>
            </a:r>
            <a:r>
              <a:rPr lang="en-US" sz="1300" b="1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条款Fast Path</a:t>
            </a: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（1周）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开发量小、体验提升最直观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风险点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BM25分词质量依赖审计行业词典，需业务方配合提供术语表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5715000"/>
            <a:ext cx="15240000" cy="762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13" name="Text 10"/>
          <p:cNvSpPr/>
          <p:nvPr/>
        </p:nvSpPr>
        <p:spPr>
          <a:xfrm>
            <a:off x="762000" y="5715000"/>
            <a:ext cx="14732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ROI最高路径：</a:t>
            </a:r>
            <a:r>
              <a:rPr lang="en-US" sz="15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FAQ短路（1周，延迟3s→100ms，LLM成本降为0） + 条款Fast Path（1周，延迟&lt;200ms，准确率&gt;90%）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 实施规划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第三阶段：企业级治理 — 为什么必须做？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508000" y="965200"/>
            <a:ext cx="152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4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第一阶段能演示，第二阶段答得准，没有第三阶段，正式推广面临</a:t>
            </a: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合规风险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3716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5大合规风险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1752600"/>
            <a:ext cx="4826000" cy="1016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</p:spPr>
      </p:sp>
      <p:sp>
        <p:nvSpPr>
          <p:cNvPr id="10" name="Text 8"/>
          <p:cNvSpPr/>
          <p:nvPr/>
        </p:nvSpPr>
        <p:spPr>
          <a:xfrm>
            <a:off x="660400" y="1828800"/>
            <a:ext cx="45212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越权访问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北京分公司员工看到上海分公司制度 → 数据泄露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88000" y="1752600"/>
            <a:ext cx="4826000" cy="1016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</p:spPr>
      </p:sp>
      <p:sp>
        <p:nvSpPr>
          <p:cNvPr id="12" name="Text 10"/>
          <p:cNvSpPr/>
          <p:nvPr/>
        </p:nvSpPr>
        <p:spPr>
          <a:xfrm>
            <a:off x="5740400" y="1828800"/>
            <a:ext cx="45212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身份伪造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前端篡改header中的user_id → 冒充领导查询机密文件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752600"/>
            <a:ext cx="5080000" cy="1016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</p:spPr>
      </p:sp>
      <p:sp>
        <p:nvSpPr>
          <p:cNvPr id="14" name="Text 12"/>
          <p:cNvSpPr/>
          <p:nvPr/>
        </p:nvSpPr>
        <p:spPr>
          <a:xfrm>
            <a:off x="10820400" y="1828800"/>
            <a:ext cx="47752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无法追责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敏感制度被外传，查不到谁查的 → 安全事件无法溯源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8000" y="2895600"/>
            <a:ext cx="7366000" cy="762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</p:spPr>
      </p:sp>
      <p:sp>
        <p:nvSpPr>
          <p:cNvPr id="16" name="Text 14"/>
          <p:cNvSpPr/>
          <p:nvPr/>
        </p:nvSpPr>
        <p:spPr>
          <a:xfrm>
            <a:off x="660400" y="2946400"/>
            <a:ext cx="7061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成本黑洞：</a:t>
            </a: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某用户高频调用，无人知晓 → LLM账单暴涨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2895600"/>
            <a:ext cx="7620000" cy="762000"/>
          </a:xfrm>
          <a:prstGeom prst="roundRect">
            <a:avLst>
              <a:gd name="adj" fmla="val 4000"/>
            </a:avLst>
          </a:prstGeom>
          <a:solidFill>
            <a:srgbClr val="FDEAEA"/>
          </a:solidFill>
        </p:spPr>
      </p:sp>
      <p:sp>
        <p:nvSpPr>
          <p:cNvPr id="18" name="Text 16"/>
          <p:cNvSpPr/>
          <p:nvPr/>
        </p:nvSpPr>
        <p:spPr>
          <a:xfrm>
            <a:off x="8280400" y="2946400"/>
            <a:ext cx="731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E74C3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撤权滞后：</a:t>
            </a:r>
            <a:r>
              <a:rPr lang="en-US" sz="13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员工离职后仍能查询历史制度 → 权限回收不及时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8000" y="3860800"/>
            <a:ext cx="381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7AE60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六大治理功能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508000" y="4241800"/>
          <a:ext cx="15240000" cy="3302000"/>
        </p:xfrm>
        <a:graphic>
          <a:graphicData uri="http://schemas.openxmlformats.org/drawingml/2006/table">
            <a:tbl>
              <a:tblPr/>
              <a:tblGrid>
                <a:gridCol w="3048000"/>
                <a:gridCol w="4267200"/>
                <a:gridCol w="4876800"/>
                <a:gridCol w="3048000"/>
              </a:tblGrid>
              <a:tr h="42850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解决什么问题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方案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收益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统一认证+OBO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BladeX token不能直接给资源服务用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OIDC facade + Token Exchange，obo_token有效期5分钟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身份伪造风险降为0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用户上下文聚合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权限信息分散在HR/OA/IAM多个系统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user-service统一聚合，Redis缓存5分钟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撤权5分钟生效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RAG权限过滤闭环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Milvus预过滤快但可能陈旧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两道防线：Milvus预过滤 + PG二次校验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越权召回率0%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评测体系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改了逻辑不知道召回率升了还是降了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eval_dataset/case/run/result + LLM-as-Judge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不达标不发布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反馈闭环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点赞/点踩未进入优化闭环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点赞→FAQ库；点踩→Badcase→评测集→驱动优化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反馈利用率&gt;80%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91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审计+成本治理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不知道谁查了机密文件、花了多少钱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auth/resource/LLM审计表 + 成本仪表盘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分钟级发现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508000" y="7747000"/>
            <a:ext cx="15240000" cy="5080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22" name="Text 19"/>
          <p:cNvSpPr/>
          <p:nvPr/>
        </p:nvSpPr>
        <p:spPr>
          <a:xfrm>
            <a:off x="762000" y="7747000"/>
            <a:ext cx="1473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里程碑：</a:t>
            </a:r>
            <a:r>
              <a:rPr lang="en-US" sz="13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3A auth-adapter(1-2周) → 3B Gateway鉴权(1-2周) → 3C user-service(1-2周) → 3D RAG权限审计(1-2周) → 3E 评测反馈治理(2周)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 实施规划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第三阶段：验收指标与Q&amp;A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08000" y="1016000"/>
          <a:ext cx="9906000" cy="3556000"/>
        </p:xfrm>
        <a:graphic>
          <a:graphicData uri="http://schemas.openxmlformats.org/drawingml/2006/table">
            <a:tbl>
              <a:tblPr/>
              <a:tblGrid>
                <a:gridCol w="1386840"/>
                <a:gridCol w="2773680"/>
                <a:gridCol w="1386840"/>
                <a:gridCol w="1981200"/>
                <a:gridCol w="2377440"/>
              </a:tblGrid>
              <a:tr h="35059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指标名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第三阶段目标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验证方式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</a:tr>
              <a:tr h="400676">
                <a:tc rowSpan="2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安全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越权召回率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未验证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权限测试集100条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76"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身份伪造抵抗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100%拒绝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渗透测试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067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权限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撤权生效时间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N/A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&lt;1分钟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撤权演练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7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评测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评测集覆盖率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100个场景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人工标注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067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反馈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反馈利用率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&gt;80%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统计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7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审计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Trace完整率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~90%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&gt;99%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日志核对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067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成本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Token消耗可视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实时仪表盘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看板验证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7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性能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RAG成功率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E74C3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~95%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7AE6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&gt;99%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压测</a:t>
                      </a:r>
                      <a:endParaRPr lang="en-US" sz="1400" dirty="0">
                        <a:latin typeface="微软雅黑" pitchFamily="34" charset="0"/>
                        <a:ea typeface="微软雅黑" pitchFamily="34" charset="0"/>
                        <a:cs typeface="微软雅黑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22000" y="1016000"/>
            <a:ext cx="4826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领导最可能问的三个问题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22000" y="1422400"/>
            <a:ext cx="2540000" cy="25400"/>
          </a:xfrm>
          <a:prstGeom prst="rect">
            <a:avLst/>
          </a:prstGeom>
          <a:solidFill>
            <a:srgbClr val="5B9BD5"/>
          </a:solidFill>
        </p:spPr>
      </p:sp>
      <p:sp>
        <p:nvSpPr>
          <p:cNvPr id="10" name="Shape 7"/>
          <p:cNvSpPr/>
          <p:nvPr/>
        </p:nvSpPr>
        <p:spPr>
          <a:xfrm>
            <a:off x="10922000" y="1574800"/>
            <a:ext cx="4826000" cy="10668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11" name="Text 8"/>
          <p:cNvSpPr/>
          <p:nvPr/>
        </p:nvSpPr>
        <p:spPr>
          <a:xfrm>
            <a:off x="11074400" y="1651000"/>
            <a:ext cx="4521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Q1：第三阶段为什么需要6-8周？能不能压缩？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A：第三阶段是建基础设施，统一认证、安全审计、评测体系都需要时间，压缩可能留下安全漏洞。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922000" y="2768600"/>
            <a:ext cx="4826000" cy="10668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13" name="Text 10"/>
          <p:cNvSpPr/>
          <p:nvPr/>
        </p:nvSpPr>
        <p:spPr>
          <a:xfrm>
            <a:off x="11074400" y="2844800"/>
            <a:ext cx="4521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Q2：如果资源有限，能否只做第二阶段？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A：第二阶段可独立交付，但正式推广必须第三阶段跟上，否则不符合企业合规要求。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922000" y="3962400"/>
            <a:ext cx="4826000" cy="10668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15" name="Text 12"/>
          <p:cNvSpPr/>
          <p:nvPr/>
        </p:nvSpPr>
        <p:spPr>
          <a:xfrm>
            <a:off x="11074400" y="4038600"/>
            <a:ext cx="4521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Q3：为什么不直接用Dify/阿里云百炼？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A：SaaS工具适合PoC，审计行业需要密级控制、企业认证、审计合规，核心链路必须自研可控。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1430000" y="203200"/>
            <a:ext cx="4318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 未来展望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304800"/>
            <a:ext cx="10668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863600"/>
            <a:ext cx="15240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508000" y="965200"/>
            <a:ext cx="15240000" cy="330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核心观点：</a:t>
            </a:r>
            <a:r>
              <a:rPr lang="en-US" sz="14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KB-Platform不是终点，是企业知识智能化的起点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8000" y="1447800"/>
            <a:ext cx="4826000" cy="5334000"/>
          </a:xfrm>
          <a:prstGeom prst="roundRect">
            <a:avLst>
              <a:gd name="adj" fmla="val 4000"/>
            </a:avLst>
          </a:prstGeom>
          <a:solidFill>
            <a:srgbClr val="27AE60"/>
          </a:solidFill>
        </p:spPr>
      </p:sp>
      <p:sp>
        <p:nvSpPr>
          <p:cNvPr id="9" name="Shape 7"/>
          <p:cNvSpPr/>
          <p:nvPr/>
        </p:nvSpPr>
        <p:spPr>
          <a:xfrm>
            <a:off x="508000" y="1447800"/>
            <a:ext cx="4826000" cy="635000"/>
          </a:xfrm>
          <a:prstGeom prst="roundRect">
            <a:avLst>
              <a:gd name="adj" fmla="val 4000"/>
            </a:avLst>
          </a:prstGeom>
          <a:solidFill>
            <a:srgbClr val="1E7E34"/>
          </a:solidFill>
        </p:spPr>
      </p:sp>
      <p:sp>
        <p:nvSpPr>
          <p:cNvPr id="10" name="Text 8"/>
          <p:cNvSpPr/>
          <p:nvPr/>
        </p:nvSpPr>
        <p:spPr>
          <a:xfrm>
            <a:off x="508000" y="1447800"/>
            <a:ext cx="482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近期（Phase 2-3）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1200" y="2260600"/>
            <a:ext cx="4419600" cy="203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✓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多路召回（Dense+BM25+FAQ+RRF）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✓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LLM查询改写 + 意图路由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✓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权限打通 + 评测体系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✓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反馈闭环 + 审计成本治理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1447800"/>
            <a:ext cx="4826000" cy="5334000"/>
          </a:xfrm>
          <a:prstGeom prst="roundRect">
            <a:avLst>
              <a:gd name="adj" fmla="val 4000"/>
            </a:avLst>
          </a:prstGeom>
          <a:solidFill>
            <a:srgbClr val="F39C12"/>
          </a:solidFill>
        </p:spPr>
      </p:sp>
      <p:sp>
        <p:nvSpPr>
          <p:cNvPr id="13" name="Shape 11"/>
          <p:cNvSpPr/>
          <p:nvPr/>
        </p:nvSpPr>
        <p:spPr>
          <a:xfrm>
            <a:off x="5715000" y="1447800"/>
            <a:ext cx="4826000" cy="635000"/>
          </a:xfrm>
          <a:prstGeom prst="roundRect">
            <a:avLst>
              <a:gd name="adj" fmla="val 4000"/>
            </a:avLst>
          </a:prstGeom>
          <a:solidFill>
            <a:srgbClr val="C7850F"/>
          </a:solidFill>
        </p:spPr>
      </p:sp>
      <p:sp>
        <p:nvSpPr>
          <p:cNvPr id="14" name="Text 12"/>
          <p:cNvSpPr/>
          <p:nvPr/>
        </p:nvSpPr>
        <p:spPr>
          <a:xfrm>
            <a:off x="5715000" y="1447800"/>
            <a:ext cx="482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中期（6-12个月）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18200" y="2260600"/>
            <a:ext cx="4419600" cy="436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OCR Agent：扫描件、图表、跨页表格识别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Table Agent：表格结构化提取，保留行列关系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MCP协议：标准化工具调用，不同智能体按需插拔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Embedding/Reranker微调：用企业领域语料优化模型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22000" y="1447800"/>
            <a:ext cx="4826000" cy="5334000"/>
          </a:xfrm>
          <a:prstGeom prst="roundRect">
            <a:avLst>
              <a:gd name="adj" fmla="val 4000"/>
            </a:avLst>
          </a:prstGeom>
          <a:solidFill>
            <a:srgbClr val="1A4A7A"/>
          </a:solidFill>
        </p:spPr>
      </p:sp>
      <p:sp>
        <p:nvSpPr>
          <p:cNvPr id="17" name="Shape 15"/>
          <p:cNvSpPr/>
          <p:nvPr/>
        </p:nvSpPr>
        <p:spPr>
          <a:xfrm>
            <a:off x="10922000" y="1447800"/>
            <a:ext cx="4826000" cy="635000"/>
          </a:xfrm>
          <a:prstGeom prst="roundRect">
            <a:avLst>
              <a:gd name="adj" fmla="val 4000"/>
            </a:avLst>
          </a:prstGeom>
          <a:solidFill>
            <a:srgbClr val="123960"/>
          </a:solidFill>
        </p:spPr>
      </p:sp>
      <p:sp>
        <p:nvSpPr>
          <p:cNvPr id="18" name="Text 16"/>
          <p:cNvSpPr/>
          <p:nvPr/>
        </p:nvSpPr>
        <p:spPr>
          <a:xfrm>
            <a:off x="10922000" y="1447800"/>
            <a:ext cx="482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远期（12个月+）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25200" y="2260600"/>
            <a:ext cx="4419600" cy="203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多模态召回：图表、架构图的向量化表示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GraphRAG：实体关系图谱辅助召回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HyDE：假设文档嵌入，让模型先猜再检索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●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自适应检索：根据问题难度自动选择召回策略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7035800"/>
            <a:ext cx="15240000" cy="711200"/>
          </a:xfrm>
          <a:prstGeom prst="roundRect">
            <a:avLst>
              <a:gd name="adj" fmla="val 4000"/>
            </a:avLst>
          </a:prstGeom>
          <a:solidFill>
            <a:srgbClr val="E3F0FA"/>
          </a:solidFill>
        </p:spPr>
      </p:sp>
      <p:sp>
        <p:nvSpPr>
          <p:cNvPr id="21" name="Text 19"/>
          <p:cNvSpPr/>
          <p:nvPr/>
        </p:nvSpPr>
        <p:spPr>
          <a:xfrm>
            <a:off x="762000" y="7035800"/>
            <a:ext cx="14732000" cy="711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愿景：</a:t>
            </a:r>
            <a:r>
              <a:rPr lang="en-US" sz="1500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从"知识库"到"企业知识智能体基础设施"，支撑审计、合规、风控等多场景智能决策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3" name="Shape 1"/>
          <p:cNvSpPr/>
          <p:nvPr/>
        </p:nvSpPr>
        <p:spPr>
          <a:xfrm>
            <a:off x="0" y="5334000"/>
            <a:ext cx="16256000" cy="3810000"/>
          </a:xfrm>
          <a:prstGeom prst="rect">
            <a:avLst/>
          </a:prstGeom>
          <a:solidFill>
            <a:srgbClr val="1A4A7A"/>
          </a:solidFill>
        </p:spPr>
      </p:sp>
      <p:sp>
        <p:nvSpPr>
          <p:cNvPr id="4" name="Text 2"/>
          <p:cNvSpPr/>
          <p:nvPr/>
        </p:nvSpPr>
        <p:spPr>
          <a:xfrm>
            <a:off x="1016000" y="1016000"/>
            <a:ext cx="1397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让企业知识真正"活"起来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2032000"/>
            <a:ext cx="1143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300" dirty="0">
                <a:solidFill>
                  <a:srgbClr val="5B9BD5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FROM "CAN ANSWER" TO "TRUSTED ANSWERS"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2540000"/>
            <a:ext cx="14224000" cy="12700"/>
          </a:xfrm>
          <a:prstGeom prst="rect">
            <a:avLst/>
          </a:prstGeom>
          <a:solidFill>
            <a:srgbClr val="E0E0E0"/>
          </a:solidFill>
        </p:spPr>
      </p:sp>
      <p:sp>
        <p:nvSpPr>
          <p:cNvPr id="7" name="Text 5"/>
          <p:cNvSpPr/>
          <p:nvPr/>
        </p:nvSpPr>
        <p:spPr>
          <a:xfrm>
            <a:off x="1016000" y="2743200"/>
            <a:ext cx="142240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1. 当下价值：</a:t>
            </a:r>
            <a:r>
              <a:rPr lang="en-US" sz="15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解决了小智在召回精度、权限管控、可观测性上的天花板。文件解析从"黑盒大模型"升级为"10步可控流水线"，检索从"单路猜"升级为"多路精准召回"。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2. 中期价值：</a:t>
            </a:r>
            <a:r>
              <a:rPr lang="en-US" sz="15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形成"知识沉淀→精准检索→可信问答→反馈优化"的完整闭环。小智只能"回答一次"，KB-Platform能"越用越准"。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1A4A7A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3. 长期价值：</a:t>
            </a:r>
            <a:r>
              <a:rPr lang="en-US" sz="1500" dirty="0">
                <a:solidFill>
                  <a:srgbClr val="2C2C2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构建企业知识智能体基础设施，支撑审计、合规、风控等多场景智能决策。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5588000"/>
            <a:ext cx="762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请求领导支持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6146800"/>
            <a:ext cx="14224000" cy="127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人力：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2-3名后端工程师（第二阶段）+ 1名</a:t>
            </a:r>
            <a:r>
              <a:rPr lang="zh-CN" alt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算法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工程师（第三阶段）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算力：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Embedding服务、Reranker服务、LLM调用Token预算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试点：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1-2个业务部门/知识空间作为首批试点，积累真实反馈数据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"知识库不是文件柜，是企业的第二大脑。" | "我们不是在做一个聊天机器人，是在构建企业知识的神经系统。"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8331200"/>
            <a:ext cx="254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7660</Words>
  <Application>WPS 演示</Application>
  <PresentationFormat>On-screen Show (16:9)</PresentationFormat>
  <Paragraphs>1033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宋体</vt:lpstr>
      <vt:lpstr>Wingdings</vt:lpstr>
      <vt:lpstr>Quattrocento Sans</vt:lpstr>
      <vt:lpstr>Quattrocento Sans</vt:lpstr>
      <vt:lpstr>Quattrocento Sans</vt:lpstr>
      <vt:lpstr>微软雅黑</vt:lpstr>
      <vt:lpstr>汉仪旗黑</vt:lpstr>
      <vt:lpstr>微软雅黑</vt:lpstr>
      <vt:lpstr>微软雅黑</vt:lpstr>
      <vt:lpstr>宋体</vt:lpstr>
      <vt:lpstr>汉仪书宋二KW</vt:lpstr>
      <vt:lpstr>Calibri</vt:lpstr>
      <vt:lpstr>Helvetica Neue</vt:lpstr>
      <vt:lpstr>Arial Unicode MS</vt:lpstr>
      <vt:lpstr>等线</vt:lpstr>
      <vt:lpstr>汉仪中等线KW</vt:lpstr>
      <vt:lpstr>儷宋 Pro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企业AI知识库平台 — 从"能回答"到"可信问答"</dc:title>
  <dc:creator>Kimi</dc:creator>
  <dc:subject>企业AI知识库平台 — 从"能回答"到"可信问答"</dc:subject>
  <cp:lastModifiedBy>apple</cp:lastModifiedBy>
  <cp:revision>3</cp:revision>
  <dcterms:created xsi:type="dcterms:W3CDTF">2026-05-10T10:00:39Z</dcterms:created>
  <dcterms:modified xsi:type="dcterms:W3CDTF">2026-05-10T10:00:39Z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{"Label":"企业AI知识库平台 — 从\"能回答\"到\"可信问答\"","ContentProducer":"001191110108MACG2KBH8F10000","ProduceID":"19e10556-e612-8b7f-8000-00004a71bded","ReservedCode1":"","ContentPropagator":"001191110108MACG2KBH8F20000","PropagateID":"19e10556-e612-8b7f-8000-00004a71bded","ReservedCode2":""}</vt:lpwstr>
  </property>
  <property fmtid="{D5CDD505-2E9C-101B-9397-08002B2CF9AE}" pid="3" name="ICV">
    <vt:lpwstr>01623B3C7E4AA39A8756006A0D20D942_42</vt:lpwstr>
  </property>
  <property fmtid="{D5CDD505-2E9C-101B-9397-08002B2CF9AE}" pid="4" name="KSOProductBuildVer">
    <vt:lpwstr>2052-12.1.25867.25867</vt:lpwstr>
  </property>
</Properties>
</file>