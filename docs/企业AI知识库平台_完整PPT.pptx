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5" r:id="rId20"/>
    <p:sldId id="276" r:id="rId21"/>
    <p:sldId id="277" r:id="rId22"/>
    <p:sldId id="278" r:id="rId23"/>
    <p:sldId id="279" r:id="rId24"/>
    <p:sldId id="273" r:id="rId26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0"/>
            <a:ext cx="13716000" cy="1828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371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企业AI知识库平台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02336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94A3B8"/>
                </a:solidFill>
              </a:defRPr>
            </a:pPr>
            <a:r>
              <a:t>构建面向审计行业的智能知识管理与问答系统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371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</a:p>
        </p:txBody>
      </p:sp>
      <p:sp>
        <p:nvSpPr>
          <p:cNvPr id="4" name="Rectangle 3"/>
          <p:cNvSpPr/>
          <p:nvPr/>
        </p:nvSpPr>
        <p:spPr>
          <a:xfrm>
            <a:off x="365760" y="868680"/>
            <a:ext cx="13898880" cy="1371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371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E293B"/>
                </a:solidFill>
              </a:defRPr>
            </a:pPr>
            <a:r>
              <a:t>目  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82880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56DB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938528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E293B"/>
                </a:solidFill>
              </a:defRPr>
            </a:pPr>
            <a:r>
              <a:t>产品定位与核心价值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82880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56DB"/>
                </a:solidFill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0" y="1938528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E293B"/>
                </a:solidFill>
              </a:defRPr>
            </a:pPr>
            <a:r>
              <a:t>功能结构与核心能力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56DB"/>
                </a:solidFill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3310128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E293B"/>
                </a:solidFill>
              </a:defRPr>
            </a:pPr>
            <a:r>
              <a:t>文件解析全流程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320040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56DB"/>
                </a:solidFill>
              </a:defRPr>
            </a:pPr>
            <a: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3310128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E293B"/>
                </a:solidFill>
              </a:defRPr>
            </a:pPr>
            <a:r>
              <a:t>知识召回全流程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57200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56DB"/>
                </a:solidFill>
              </a:defRPr>
            </a:pPr>
            <a: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4681728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E293B"/>
                </a:solidFill>
              </a:defRPr>
            </a:pPr>
            <a:r>
              <a:t>数据测评体系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457200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56DB"/>
                </a:solidFill>
              </a:defRPr>
            </a:pPr>
            <a:r>
              <a:t>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4681728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E293B"/>
                </a:solidFill>
              </a:defRPr>
            </a:pPr>
            <a:r>
              <a:t>外部产品对接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94360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56DB"/>
                </a:solidFill>
              </a:defRPr>
            </a:pPr>
            <a:r>
              <a:t>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6053328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E293B"/>
                </a:solidFill>
              </a:defRPr>
            </a:pPr>
            <a:r>
              <a:t>未来规划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594360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56DB"/>
                </a:solidFill>
              </a:defRPr>
            </a:pPr>
            <a:r>
              <a:t>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6053328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E293B"/>
                </a:solidFill>
              </a:defRPr>
            </a:pPr>
            <a:r>
              <a:t>竞品对比与优势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371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一、产品定位与核心价值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68680"/>
            <a:ext cx="13898880" cy="1371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6400800" cy="3474720"/>
          </a:xfrm>
          <a:prstGeom prst="roundRect">
            <a:avLst/>
          </a:prstGeom>
          <a:solidFill>
            <a:srgbClr val="F8FAFC"/>
          </a:solidFill>
          <a:ln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6DB"/>
                </a:solidFill>
              </a:defRPr>
            </a:pPr>
            <a:r>
              <a:t>产品定位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5943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企业AI知识库平台是面向审计行业的智能化知识管理与问答系统，通过RAG技术实现企业内部知识的精准检索与可信问答。</a:t>
            </a:r>
            <a:br/>
            <a:br/>
            <a:r>
              <a:t>• 将企业制度、法规、审计准则等文档知识化</a:t>
            </a:r>
            <a:br/>
            <a:r>
              <a:t>• 通过智能问答方式快速获取知识</a:t>
            </a:r>
            <a:br/>
            <a:r>
              <a:t>• 每条答案均可追溯至原文，确保可信度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1097280"/>
            <a:ext cx="7040880" cy="3474720"/>
          </a:xfrm>
          <a:prstGeom prst="roundRect">
            <a:avLst/>
          </a:prstGeom>
          <a:solidFill>
            <a:srgbClr val="F8FAFC"/>
          </a:solidFill>
          <a:ln>
            <a:solidFill>
              <a:srgbClr val="0F9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0" y="123444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9D5C"/>
                </a:solidFill>
              </a:defRPr>
            </a:pPr>
            <a:r>
              <a:t>核心价值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828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9D5C"/>
                </a:solidFill>
              </a:defRPr>
            </a:pPr>
            <a:r>
              <a:t>精准可信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187451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答案带引用，可点击跳转原文验证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468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9D5C"/>
                </a:solidFill>
              </a:defRPr>
            </a:pPr>
            <a:r>
              <a:t>降本增效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2514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自动化知识抽取，减少人工整理工作量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3108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9D5C"/>
                </a:solidFill>
              </a:defRPr>
            </a:pPr>
            <a:r>
              <a:t>持续进化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315467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基于反馈闭环，知识库越用越精准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37490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9D5C"/>
                </a:solidFill>
              </a:defRPr>
            </a:pPr>
            <a:r>
              <a:t>安全合规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379475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多维度权限控制，满足企业安全要求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80"/>
            <a:ext cx="1371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E293B"/>
                </a:solidFill>
              </a:defRPr>
            </a:pPr>
            <a:r>
              <a:t>核心能力矩阵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5212080"/>
            <a:ext cx="2926080" cy="118872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3035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文档解析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7150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多格式支持</a:t>
            </a:r>
            <a:br/>
            <a:r>
              <a:t>智能分块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5212080"/>
            <a:ext cx="2926080" cy="118872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0" y="53035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知识召回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57150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向量检索</a:t>
            </a:r>
            <a:br/>
            <a:r>
              <a:t>多路融合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63840" y="5212080"/>
            <a:ext cx="2926080" cy="118872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0" y="53035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智能问答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57150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RAG增强</a:t>
            </a:r>
            <a:br/>
            <a:r>
              <a:t>专家问答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338559" y="5212080"/>
            <a:ext cx="2926080" cy="118872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338559" y="53035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数据评测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38559" y="57150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召回评估</a:t>
            </a:r>
            <a:br/>
            <a:r>
              <a:t>持续优化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371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二、功能结构与核心能力 - 整体架构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68680"/>
            <a:ext cx="13898880" cy="1371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371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E293B"/>
                </a:solidFill>
              </a:defRPr>
            </a:pPr>
            <a:r>
              <a:t>整体功能架构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3167360" cy="64008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316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前端门户（Next.js）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86000"/>
            <a:ext cx="1645920" cy="822960"/>
          </a:xfrm>
          <a:prstGeom prst="roundRect">
            <a:avLst/>
          </a:prstGeom>
          <a:solidFill>
            <a:srgbClr val="F8FAFC"/>
          </a:solidFill>
          <a:ln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4231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E293B"/>
                </a:solidFill>
              </a:defRPr>
            </a:pPr>
            <a:r>
              <a:t>知识空间管理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2286000"/>
            <a:ext cx="1645920" cy="822960"/>
          </a:xfrm>
          <a:prstGeom prst="roundRect">
            <a:avLst/>
          </a:prstGeom>
          <a:solidFill>
            <a:srgbClr val="F8FAFC"/>
          </a:solidFill>
          <a:ln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0" y="24231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E293B"/>
                </a:solidFill>
              </a:defRPr>
            </a:pPr>
            <a:r>
              <a:t>文档上传管理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286000"/>
            <a:ext cx="1645920" cy="822960"/>
          </a:xfrm>
          <a:prstGeom prst="roundRect">
            <a:avLst/>
          </a:prstGeom>
          <a:solidFill>
            <a:srgbClr val="F8FAFC"/>
          </a:solidFill>
          <a:ln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24231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E293B"/>
                </a:solidFill>
              </a:defRPr>
            </a:pPr>
            <a:r>
              <a:t>RAG智能问答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286000"/>
            <a:ext cx="1645920" cy="822960"/>
          </a:xfrm>
          <a:prstGeom prst="roundRect">
            <a:avLst/>
          </a:prstGeom>
          <a:solidFill>
            <a:srgbClr val="F8FAFC"/>
          </a:solidFill>
          <a:ln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4231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E293B"/>
                </a:solidFill>
              </a:defRPr>
            </a:pPr>
            <a:r>
              <a:t>专家中心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286000"/>
            <a:ext cx="1645920" cy="822960"/>
          </a:xfrm>
          <a:prstGeom prst="roundRect">
            <a:avLst/>
          </a:prstGeom>
          <a:solidFill>
            <a:srgbClr val="F8FAFC"/>
          </a:solidFill>
          <a:ln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0" y="24231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E293B"/>
                </a:solidFill>
              </a:defRPr>
            </a:pPr>
            <a:r>
              <a:t>技能广场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75520" y="2286000"/>
            <a:ext cx="1645920" cy="822960"/>
          </a:xfrm>
          <a:prstGeom prst="roundRect">
            <a:avLst/>
          </a:prstGeom>
          <a:solidFill>
            <a:srgbClr val="F8FAFC"/>
          </a:solidFill>
          <a:ln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0" y="24231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E293B"/>
                </a:solidFill>
              </a:defRPr>
            </a:pPr>
            <a:r>
              <a:t>数据评测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704320" y="2286000"/>
            <a:ext cx="1645920" cy="822960"/>
          </a:xfrm>
          <a:prstGeom prst="roundRect">
            <a:avLst/>
          </a:prstGeom>
          <a:solidFill>
            <a:srgbClr val="F8FAFC"/>
          </a:solidFill>
          <a:ln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704320" y="24231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E293B"/>
                </a:solidFill>
              </a:defRPr>
            </a:pPr>
            <a:r>
              <a:t>监控日志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0" y="26517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56DB"/>
                </a:solidFill>
              </a:defRPr>
            </a:pPr>
            <a:r>
              <a:t>V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389120"/>
            <a:ext cx="13167360" cy="640080"/>
          </a:xfrm>
          <a:prstGeom prst="roundRect">
            <a:avLst/>
          </a:prstGeom>
          <a:solidFill>
            <a:srgbClr val="0F9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480560"/>
            <a:ext cx="1316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后端服务层（Java微服务 + Python服务）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97280" y="5212080"/>
            <a:ext cx="1828800" cy="548640"/>
          </a:xfrm>
          <a:prstGeom prst="roundRect">
            <a:avLst/>
          </a:prstGeom>
          <a:solidFill>
            <a:srgbClr val="F8FAFC"/>
          </a:solidFill>
          <a:ln>
            <a:solidFill>
              <a:srgbClr val="0F9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523036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293B"/>
                </a:solidFill>
              </a:defRPr>
            </a:pPr>
            <a:r>
              <a:t>ingest-service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00400" y="5212080"/>
            <a:ext cx="1828800" cy="548640"/>
          </a:xfrm>
          <a:prstGeom prst="roundRect">
            <a:avLst/>
          </a:prstGeom>
          <a:solidFill>
            <a:srgbClr val="F8FAFC"/>
          </a:solidFill>
          <a:ln>
            <a:solidFill>
              <a:srgbClr val="0F9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0" y="523036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293B"/>
                </a:solidFill>
              </a:defRPr>
            </a:pPr>
            <a:r>
              <a:t>vector-service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303520" y="5212080"/>
            <a:ext cx="1828800" cy="548640"/>
          </a:xfrm>
          <a:prstGeom prst="roundRect">
            <a:avLst/>
          </a:prstGeom>
          <a:solidFill>
            <a:srgbClr val="F8FAFC"/>
          </a:solidFill>
          <a:ln>
            <a:solidFill>
              <a:srgbClr val="0F9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0" y="523036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293B"/>
                </a:solidFill>
              </a:defRPr>
            </a:pPr>
            <a:r>
              <a:t>rag-service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06640" y="5212080"/>
            <a:ext cx="1828800" cy="548640"/>
          </a:xfrm>
          <a:prstGeom prst="roundRect">
            <a:avLst/>
          </a:prstGeom>
          <a:solidFill>
            <a:srgbClr val="F8FAFC"/>
          </a:solidFill>
          <a:ln>
            <a:solidFill>
              <a:srgbClr val="0F9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06640" y="523036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293B"/>
                </a:solidFill>
              </a:defRPr>
            </a:pPr>
            <a:r>
              <a:t>llm-gateway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509759" y="5212080"/>
            <a:ext cx="1828800" cy="548640"/>
          </a:xfrm>
          <a:prstGeom prst="roundRect">
            <a:avLst/>
          </a:prstGeom>
          <a:solidFill>
            <a:srgbClr val="F8FAFC"/>
          </a:solidFill>
          <a:ln>
            <a:solidFill>
              <a:srgbClr val="0F9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09759" y="523036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293B"/>
                </a:solidFill>
              </a:defRPr>
            </a:pPr>
            <a:r>
              <a:t>kb-doc-processor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612880" y="5212080"/>
            <a:ext cx="1828800" cy="548640"/>
          </a:xfrm>
          <a:prstGeom prst="roundRect">
            <a:avLst/>
          </a:prstGeom>
          <a:solidFill>
            <a:srgbClr val="F8FAFC"/>
          </a:solidFill>
          <a:ln>
            <a:solidFill>
              <a:srgbClr val="0F9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612880" y="523036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293B"/>
                </a:solidFill>
              </a:defRPr>
            </a:pPr>
            <a:r>
              <a:t>rerank-service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97280" y="5897880"/>
            <a:ext cx="1828800" cy="548640"/>
          </a:xfrm>
          <a:prstGeom prst="roundRect">
            <a:avLst/>
          </a:prstGeom>
          <a:solidFill>
            <a:srgbClr val="94A3B8"/>
          </a:solidFill>
          <a:ln>
            <a:solidFill>
              <a:srgbClr val="0F9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97280" y="591616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</a:defRPr>
            </a:pPr>
            <a:r>
              <a:t>文档管理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200400" y="5897880"/>
            <a:ext cx="1828800" cy="548640"/>
          </a:xfrm>
          <a:prstGeom prst="roundRect">
            <a:avLst/>
          </a:prstGeom>
          <a:solidFill>
            <a:srgbClr val="94A3B8"/>
          </a:solidFill>
          <a:ln>
            <a:solidFill>
              <a:srgbClr val="0F9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00400" y="591616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</a:defRPr>
            </a:pPr>
            <a:r>
              <a:t>向量化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303520" y="5897880"/>
            <a:ext cx="1828800" cy="548640"/>
          </a:xfrm>
          <a:prstGeom prst="roundRect">
            <a:avLst/>
          </a:prstGeom>
          <a:solidFill>
            <a:srgbClr val="94A3B8"/>
          </a:solidFill>
          <a:ln>
            <a:solidFill>
              <a:srgbClr val="0F9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03520" y="591616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</a:defRPr>
            </a:pPr>
            <a:r>
              <a:t>检索问答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406640" y="5897880"/>
            <a:ext cx="1828800" cy="548640"/>
          </a:xfrm>
          <a:prstGeom prst="roundRect">
            <a:avLst/>
          </a:prstGeom>
          <a:solidFill>
            <a:srgbClr val="94A3B8"/>
          </a:solidFill>
          <a:ln>
            <a:solidFill>
              <a:srgbClr val="0F9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06640" y="591616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</a:defRPr>
            </a:pPr>
            <a:r>
              <a:t>模型路由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509759" y="5897880"/>
            <a:ext cx="1828800" cy="548640"/>
          </a:xfrm>
          <a:prstGeom prst="roundRect">
            <a:avLst/>
          </a:prstGeom>
          <a:solidFill>
            <a:srgbClr val="94A3B8"/>
          </a:solidFill>
          <a:ln>
            <a:solidFill>
              <a:srgbClr val="0F9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509759" y="591616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</a:defRPr>
            </a:pPr>
            <a:r>
              <a:t>文档解析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1612880" y="5897880"/>
            <a:ext cx="1828800" cy="548640"/>
          </a:xfrm>
          <a:prstGeom prst="roundRect">
            <a:avLst/>
          </a:prstGeom>
          <a:solidFill>
            <a:srgbClr val="94A3B8"/>
          </a:solidFill>
          <a:ln>
            <a:solidFill>
              <a:srgbClr val="0F9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612880" y="591616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</a:defRPr>
            </a:pPr>
            <a:r>
              <a:t>结果重排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31520" y="6583680"/>
            <a:ext cx="13167360" cy="548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520" y="6675120"/>
            <a:ext cx="1316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PostgreSQL  |  Redis  |  Kafka  |  Milvus  |  MinIO  |  Apache Tika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371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二、功能结构与核心能力 - 能力详情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68680"/>
            <a:ext cx="13898880" cy="1371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4480560" cy="50292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文档解析能力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91640"/>
            <a:ext cx="448056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28800"/>
            <a:ext cx="4206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* 多格式解析：PDF、Word、Excel、PPT、TXT、HTML、Markdown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68880"/>
            <a:ext cx="4206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* Apache Tika 引擎，解析50+格式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108960"/>
            <a:ext cx="4206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* 五层清洗：编码规范-&gt;去HTML-&gt;全角转半角-&gt;去页眉页脚-&gt;压缩空行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749039"/>
            <a:ext cx="4206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* 智能分块：固定长度/语义切片/LLM精修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389120"/>
            <a:ext cx="4206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* Parent-Child双层架构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029200"/>
            <a:ext cx="4206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* ChunkType语义推断：definition/procedure/rule/example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669279"/>
            <a:ext cx="4206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* 质量评分：0-100分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0640" y="1097280"/>
            <a:ext cx="4480560" cy="502920"/>
          </a:xfrm>
          <a:prstGeom prst="roundRect">
            <a:avLst/>
          </a:prstGeom>
          <a:solidFill>
            <a:srgbClr val="0F9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0" y="118872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知识召回能力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20640" y="1691640"/>
            <a:ext cx="448056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0F9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57800" y="1828800"/>
            <a:ext cx="4206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* Dense向量检索（Milvus HNSW）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2468880"/>
            <a:ext cx="4206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* Dense+Rerank精排（BGE-Reranker）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3108960"/>
            <a:ext cx="4206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* 条款编号Fast Path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7800" y="3749039"/>
            <a:ext cx="4206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* 关键词兜底增强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7800" y="4389120"/>
            <a:ext cx="4206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* 查询改写：同义词扩展+指代消解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7800" y="5029200"/>
            <a:ext cx="4206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* 多轮对话上下文管理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57800" y="5669279"/>
            <a:ext cx="4206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* 拒答判断：三级拒答策略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84080" y="1097280"/>
            <a:ext cx="4480560" cy="50292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84080" y="118872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平台管理能力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84080" y="1691640"/>
            <a:ext cx="448056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21240" y="1828800"/>
            <a:ext cx="4206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* 知识空间树形管理（4级层级）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21240" y="2468880"/>
            <a:ext cx="4206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* 多维度ACL权限控制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21240" y="3108960"/>
            <a:ext cx="4206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* 文档生命周期管理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21240" y="3749039"/>
            <a:ext cx="4206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* Pipeline Trace全链路追踪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21240" y="4389120"/>
            <a:ext cx="4206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* 专家中心：角色化智能体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21240" y="5029200"/>
            <a:ext cx="4206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* 技能广场：工具+提示词+MCP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21240" y="5669279"/>
            <a:ext cx="4206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* 数据评测：召回准确率评估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371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三、文件解析全流程 - 概览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68680"/>
            <a:ext cx="13898880" cy="1371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371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E293B"/>
                </a:solidFill>
              </a:defRPr>
            </a:pPr>
            <a:r>
              <a:t>文件解析全流程</a:t>
            </a:r>
          </a:p>
        </p:txBody>
      </p:sp>
      <p:sp>
        <p:nvSpPr>
          <p:cNvPr id="6" name="Oval 5"/>
          <p:cNvSpPr/>
          <p:nvPr/>
        </p:nvSpPr>
        <p:spPr>
          <a:xfrm>
            <a:off x="960120" y="1645920"/>
            <a:ext cx="457200" cy="45720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1907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194560"/>
            <a:ext cx="1737360" cy="1188720"/>
          </a:xfrm>
          <a:prstGeom prst="roundRect">
            <a:avLst/>
          </a:prstGeom>
          <a:solidFill>
            <a:srgbClr val="F8FAFC"/>
          </a:solidFill>
          <a:ln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2860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56DB"/>
                </a:solidFill>
              </a:defRPr>
            </a:pPr>
            <a:r>
              <a:t>文件上传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697480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MinIO存储</a:t>
            </a:r>
            <a:br/>
            <a:r>
              <a:t>Presigned URL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26517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A56DB"/>
                </a:solidFill>
              </a:defRPr>
            </a:pPr>
            <a:r>
              <a:t>-&gt;</a:t>
            </a:r>
          </a:p>
        </p:txBody>
      </p:sp>
      <p:sp>
        <p:nvSpPr>
          <p:cNvPr id="12" name="Oval 11"/>
          <p:cNvSpPr/>
          <p:nvPr/>
        </p:nvSpPr>
        <p:spPr>
          <a:xfrm>
            <a:off x="2926079" y="1645920"/>
            <a:ext cx="457200" cy="45720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79" y="171907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31720" y="2194560"/>
            <a:ext cx="1737360" cy="1188720"/>
          </a:xfrm>
          <a:prstGeom prst="roundRect">
            <a:avLst/>
          </a:prstGeom>
          <a:solidFill>
            <a:srgbClr val="F8FAFC"/>
          </a:solidFill>
          <a:ln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31720" y="22860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56DB"/>
                </a:solidFill>
              </a:defRPr>
            </a:pPr>
            <a:r>
              <a:t>Kafka触发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2697480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file-ingest</a:t>
            </a:r>
            <a:br/>
            <a:r>
              <a:t>消息队列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26517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A56DB"/>
                </a:solidFill>
              </a:defRPr>
            </a:pPr>
            <a:r>
              <a:t>-&gt;</a:t>
            </a:r>
          </a:p>
        </p:txBody>
      </p:sp>
      <p:sp>
        <p:nvSpPr>
          <p:cNvPr id="18" name="Oval 17"/>
          <p:cNvSpPr/>
          <p:nvPr/>
        </p:nvSpPr>
        <p:spPr>
          <a:xfrm>
            <a:off x="4892040" y="1645920"/>
            <a:ext cx="457200" cy="45720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92040" y="171907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2194560"/>
            <a:ext cx="1737360" cy="1188720"/>
          </a:xfrm>
          <a:prstGeom prst="roundRect">
            <a:avLst/>
          </a:prstGeom>
          <a:solidFill>
            <a:srgbClr val="F8FAFC"/>
          </a:solidFill>
          <a:ln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0" y="22860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56DB"/>
                </a:solidFill>
              </a:defRPr>
            </a:pPr>
            <a:r>
              <a:t>文档解析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2697480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Apache Tika</a:t>
            </a:r>
            <a:br/>
            <a:r>
              <a:t>多格式支持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26517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A56DB"/>
                </a:solidFill>
              </a:defRPr>
            </a:pPr>
            <a:r>
              <a:t>-&gt;</a:t>
            </a:r>
          </a:p>
        </p:txBody>
      </p:sp>
      <p:sp>
        <p:nvSpPr>
          <p:cNvPr id="24" name="Oval 23"/>
          <p:cNvSpPr/>
          <p:nvPr/>
        </p:nvSpPr>
        <p:spPr>
          <a:xfrm>
            <a:off x="6858000" y="1645920"/>
            <a:ext cx="457200" cy="45720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0" y="171907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2194560"/>
            <a:ext cx="1737360" cy="1188720"/>
          </a:xfrm>
          <a:prstGeom prst="roundRect">
            <a:avLst/>
          </a:prstGeom>
          <a:solidFill>
            <a:srgbClr val="F8FAFC"/>
          </a:solidFill>
          <a:ln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22860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56DB"/>
                </a:solidFill>
              </a:defRPr>
            </a:pPr>
            <a:r>
              <a:t>文本清洗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2697480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五层清洗</a:t>
            </a:r>
            <a:br/>
            <a:r>
              <a:t>质量评分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19" y="26517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A56DB"/>
                </a:solidFill>
              </a:defRPr>
            </a:pPr>
            <a:r>
              <a:t>-&gt;</a:t>
            </a:r>
          </a:p>
        </p:txBody>
      </p:sp>
      <p:sp>
        <p:nvSpPr>
          <p:cNvPr id="30" name="Oval 29"/>
          <p:cNvSpPr/>
          <p:nvPr/>
        </p:nvSpPr>
        <p:spPr>
          <a:xfrm>
            <a:off x="8823960" y="1645920"/>
            <a:ext cx="457200" cy="45720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23960" y="171907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0" y="2194560"/>
            <a:ext cx="1737360" cy="1188720"/>
          </a:xfrm>
          <a:prstGeom prst="roundRect">
            <a:avLst/>
          </a:prstGeom>
          <a:solidFill>
            <a:srgbClr val="F8FAFC"/>
          </a:solidFill>
          <a:ln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0" y="22860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56DB"/>
                </a:solidFill>
              </a:defRPr>
            </a:pPr>
            <a:r>
              <a:t>智能分块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2697480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语义切片</a:t>
            </a:r>
            <a:br/>
            <a:r>
              <a:t>Parent-Child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12680" y="26517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A56DB"/>
                </a:solidFill>
              </a:defRPr>
            </a:pPr>
            <a:r>
              <a:t>-&gt;</a:t>
            </a:r>
          </a:p>
        </p:txBody>
      </p:sp>
      <p:sp>
        <p:nvSpPr>
          <p:cNvPr id="36" name="Oval 35"/>
          <p:cNvSpPr/>
          <p:nvPr/>
        </p:nvSpPr>
        <p:spPr>
          <a:xfrm>
            <a:off x="10789920" y="1645920"/>
            <a:ext cx="457200" cy="45720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789920" y="171907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195560" y="2194560"/>
            <a:ext cx="1737360" cy="1188720"/>
          </a:xfrm>
          <a:prstGeom prst="roundRect">
            <a:avLst/>
          </a:prstGeom>
          <a:solidFill>
            <a:srgbClr val="F8FAFC"/>
          </a:solidFill>
          <a:ln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95560" y="22860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56DB"/>
                </a:solidFill>
              </a:defRPr>
            </a:pPr>
            <a:r>
              <a:t>向量化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95560" y="2697480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BGE-zh</a:t>
            </a:r>
            <a:br/>
            <a:r>
              <a:t>1024维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978640" y="26517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A56DB"/>
                </a:solidFill>
              </a:defRPr>
            </a:pPr>
            <a:r>
              <a:t>-&gt;</a:t>
            </a:r>
          </a:p>
        </p:txBody>
      </p:sp>
      <p:sp>
        <p:nvSpPr>
          <p:cNvPr id="42" name="Oval 41"/>
          <p:cNvSpPr/>
          <p:nvPr/>
        </p:nvSpPr>
        <p:spPr>
          <a:xfrm>
            <a:off x="12755880" y="1645920"/>
            <a:ext cx="457200" cy="45720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755880" y="171907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2161519" y="2194560"/>
            <a:ext cx="1737360" cy="1188720"/>
          </a:xfrm>
          <a:prstGeom prst="roundRect">
            <a:avLst/>
          </a:prstGeom>
          <a:solidFill>
            <a:srgbClr val="F8FAFC"/>
          </a:solidFill>
          <a:ln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161519" y="22860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56DB"/>
                </a:solidFill>
              </a:defRPr>
            </a:pPr>
            <a:r>
              <a:t>Milvus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161519" y="2697480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向量入库</a:t>
            </a:r>
            <a:br/>
            <a:r>
              <a:t>元数据索引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65760" y="3657600"/>
            <a:ext cx="13898880" cy="2926080"/>
          </a:xfrm>
          <a:prstGeom prst="roundRect">
            <a:avLst/>
          </a:prstGeom>
          <a:solidFill>
            <a:srgbClr val="F8FAFC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8640" y="3794760"/>
            <a:ext cx="1353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核心环节详解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4206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</a:defRPr>
            </a:pPr>
            <a:r>
              <a:t>Tika解析引擎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468880" y="42062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支持PDF/Word/Excel/PPT/TXT/HTML/MD等50+格式，自动识别编码，保留文档结构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06640" y="4206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</a:defRPr>
            </a:pPr>
            <a:r>
              <a:t>五层清洗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26880" y="42062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编码规范-&gt;HTML去除-&gt;全角转半角-&gt;页眉页脚去除-&gt;连续空白压缩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498347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</a:defRPr>
            </a:pPr>
            <a:r>
              <a:t>智能分块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468880" y="4983479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SMART模式按章节/条款边界切分，SMART_LLM模式由LLM精修边界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06640" y="498347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</a:defRPr>
            </a:pPr>
            <a:r>
              <a:t>Parent-Child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326880" y="4983479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Parent为完整语义单元(1500字符)，Child为检索单元(400字符)，兼顾精确与完整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5760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</a:defRPr>
            </a:pPr>
            <a:r>
              <a:t>向量化入库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468880" y="57607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BGE-zh-v1.5模型，1024维向量，Milvus HNSW索引，ACL字段预过滤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371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三、文件解析全流程 - 智能分块方案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68680"/>
            <a:ext cx="13898880" cy="1371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371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E293B"/>
                </a:solidFill>
              </a:defRPr>
            </a:pPr>
            <a:r>
              <a:t>文件解析全流程 - 智能分块方案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3200400" cy="2194560"/>
          </a:xfrm>
          <a:prstGeom prst="round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基础层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L1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603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HEAD_FIRST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803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TAIL_FIRST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004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UNIFORM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375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固定长度切分，简单快速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31920" y="1554480"/>
            <a:ext cx="3200400" cy="219456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0" y="1691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语义层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103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L2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5603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SMART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28803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规则语义切片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33375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按章节/条款边界智能切分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06640" y="1554480"/>
            <a:ext cx="3200400" cy="2194560"/>
          </a:xfrm>
          <a:prstGeom prst="roundRect">
            <a:avLst/>
          </a:prstGeom>
          <a:solidFill>
            <a:srgbClr val="0F9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0" y="1691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精修层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2103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L3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19" y="25603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SMART_LLM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19" y="28803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LLM边界精修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33375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大模型判断最佳切分点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881359" y="1554480"/>
            <a:ext cx="3200400" cy="219456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881359" y="1691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架构层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59" y="2103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L4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39" y="25603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Parent-Child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39" y="28803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双层架构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59" y="33375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小块检索+大块生成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3931920"/>
            <a:ext cx="1371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293B"/>
                </a:solidFill>
              </a:defRPr>
            </a:pPr>
            <a:r>
              <a:t>Parent-Child 双层架构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4434840"/>
            <a:ext cx="4114800" cy="91440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5262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入库阶段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48920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SemanticChunker识别章节</a:t>
            </a:r>
            <a:br/>
            <a:r>
              <a:t>生成Parent(1500字)-&gt;Parent内切Child(400字)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47548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1A56DB"/>
                </a:solidFill>
              </a:defRPr>
            </a:pPr>
            <a:r>
              <a:t>-&gt;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303520" y="4434840"/>
            <a:ext cx="4114800" cy="914400"/>
          </a:xfrm>
          <a:prstGeom prst="roundRect">
            <a:avLst/>
          </a:prstGeom>
          <a:solidFill>
            <a:srgbClr val="0F9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03520" y="45262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检索阶段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94960" y="48920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Child小块进入Milvus</a:t>
            </a:r>
            <a:br/>
            <a:r>
              <a:t>精确匹配Query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09760" y="47548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F9D5C"/>
                </a:solidFill>
              </a:defRPr>
            </a:pPr>
            <a:r>
              <a:t>-&gt;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149840" y="4434840"/>
            <a:ext cx="4114800" cy="91440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49840" y="45262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生成阶段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41280" y="48920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根据parent_ref回捞Parent完整文本</a:t>
            </a:r>
            <a:br/>
            <a:r>
              <a:t>喂给LLM生成高质量回答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5577840"/>
            <a:ext cx="1371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</a:defRPr>
            </a:pPr>
            <a:r>
              <a:t>核心价值：用小钥匙开门，用大房间装答案。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371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三、文件解析全流程 - 期望vs现状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68680"/>
            <a:ext cx="13898880" cy="1371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371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E293B"/>
                </a:solidFill>
              </a:defRPr>
            </a:pPr>
            <a:r>
              <a:t>文件解析能力 - 期望 vs 现状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2286000" cy="45720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276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环节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8920" y="1554480"/>
            <a:ext cx="5029200" cy="45720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88920" y="162763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期望能力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554480"/>
            <a:ext cx="5029200" cy="45720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162763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现状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938759" y="1554480"/>
            <a:ext cx="1371600" cy="45720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938759" y="162763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状态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103120"/>
            <a:ext cx="2286000" cy="640080"/>
          </a:xfrm>
          <a:prstGeom prst="rect">
            <a:avLst/>
          </a:prstGeom>
          <a:solidFill>
            <a:srgbClr val="F8FAFC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148839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格式解析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88920" y="2103120"/>
            <a:ext cx="5029200" cy="640080"/>
          </a:xfrm>
          <a:prstGeom prst="rect">
            <a:avLst/>
          </a:prstGeom>
          <a:solidFill>
            <a:srgbClr val="F8FAFC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80360" y="2148839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PDF/Word/Excel/PPT/TXT/HTML/MD等50+格式</a:t>
            </a:r>
            <a:br/>
            <a:r>
              <a:t>Apache Tika引擎，自动识别编码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0" y="2103120"/>
            <a:ext cx="5029200" cy="640080"/>
          </a:xfrm>
          <a:prstGeom prst="rect">
            <a:avLst/>
          </a:prstGeom>
          <a:solidFill>
            <a:srgbClr val="F8FAFC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79" y="2148839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Tika解析已完成</a:t>
            </a:r>
            <a:br/>
            <a:r>
              <a:t>多格式支持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938759" y="2103120"/>
            <a:ext cx="1371600" cy="640080"/>
          </a:xfrm>
          <a:prstGeom prst="rect">
            <a:avLst/>
          </a:prstGeom>
          <a:solidFill>
            <a:srgbClr val="F8FAFC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3213080" y="2267712"/>
            <a:ext cx="822960" cy="320040"/>
          </a:xfrm>
          <a:prstGeom prst="roundRect">
            <a:avLst/>
          </a:prstGeom>
          <a:solidFill>
            <a:srgbClr val="0F9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213080" y="230428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已完成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788920"/>
            <a:ext cx="22860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2834639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文本清洗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88920" y="2788920"/>
            <a:ext cx="50292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80360" y="2834639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五层清洗：编码-&gt;去HTML-&gt;全角转半角</a:t>
            </a:r>
            <a:br/>
            <a:r>
              <a:t>去页眉页脚-&gt;压缩空白+质量评分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63840" y="2788920"/>
            <a:ext cx="50292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79" y="2834639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TextCleaner五层清洗已完成</a:t>
            </a:r>
            <a:br/>
            <a:r>
              <a:t>质量评分0-100分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2938759" y="2788920"/>
            <a:ext cx="13716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3213080" y="2953512"/>
            <a:ext cx="822960" cy="320040"/>
          </a:xfrm>
          <a:prstGeom prst="roundRect">
            <a:avLst/>
          </a:prstGeom>
          <a:solidFill>
            <a:srgbClr val="0F9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213080" y="299008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已完成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474720"/>
            <a:ext cx="2286000" cy="640080"/>
          </a:xfrm>
          <a:prstGeom prst="rect">
            <a:avLst/>
          </a:prstGeom>
          <a:solidFill>
            <a:srgbClr val="F8FAFC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3520439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智能分块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88920" y="3474720"/>
            <a:ext cx="5029200" cy="640080"/>
          </a:xfrm>
          <a:prstGeom prst="rect">
            <a:avLst/>
          </a:prstGeom>
          <a:solidFill>
            <a:srgbClr val="F8FAFC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80360" y="3520439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SMART语义切片+LLM精修边界</a:t>
            </a:r>
            <a:br/>
            <a:r>
              <a:t>Parent-Child双层架构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63840" y="3474720"/>
            <a:ext cx="5029200" cy="640080"/>
          </a:xfrm>
          <a:prstGeom prst="rect">
            <a:avLst/>
          </a:prstGeom>
          <a:solidFill>
            <a:srgbClr val="F8FAFC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55279" y="3520439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SMART/SMART_LLM已完成</a:t>
            </a:r>
            <a:br/>
            <a:r>
              <a:t>Parent-Child已完成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938759" y="3474720"/>
            <a:ext cx="1371600" cy="640080"/>
          </a:xfrm>
          <a:prstGeom prst="rect">
            <a:avLst/>
          </a:prstGeom>
          <a:solidFill>
            <a:srgbClr val="F8FAFC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3213080" y="3639312"/>
            <a:ext cx="822960" cy="320040"/>
          </a:xfrm>
          <a:prstGeom prst="roundRect">
            <a:avLst/>
          </a:prstGeom>
          <a:solidFill>
            <a:srgbClr val="0F9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3213080" y="3675887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已完成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160520"/>
            <a:ext cx="22860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42062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OCR识别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88920" y="4160520"/>
            <a:ext cx="50292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880360" y="420624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扫描件/图片文字识别</a:t>
            </a:r>
            <a:br/>
            <a:r>
              <a:t>PaddleOCR/Tesseract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863840" y="4160520"/>
            <a:ext cx="50292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955279" y="420624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OCRParser为Phase2占位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2938759" y="4160520"/>
            <a:ext cx="13716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13213080" y="4325112"/>
            <a:ext cx="822960" cy="320040"/>
          </a:xfrm>
          <a:prstGeom prst="roundRect">
            <a:avLst/>
          </a:prstGeom>
          <a:solidFill>
            <a:srgbClr val="F59E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3213080" y="436168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待完成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4846320"/>
            <a:ext cx="2286000" cy="640080"/>
          </a:xfrm>
          <a:prstGeom prst="rect">
            <a:avLst/>
          </a:prstGeom>
          <a:solidFill>
            <a:srgbClr val="F8FAFC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48920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PII脱敏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88920" y="4846320"/>
            <a:ext cx="5029200" cy="640080"/>
          </a:xfrm>
          <a:prstGeom prst="rect">
            <a:avLst/>
          </a:prstGeom>
          <a:solidFill>
            <a:srgbClr val="F8FAFC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880360" y="489204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身份证/手机号/银行卡脱敏</a:t>
            </a:r>
            <a:br/>
            <a:r>
              <a:t>正则+规则引擎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863840" y="4846320"/>
            <a:ext cx="5029200" cy="640080"/>
          </a:xfrm>
          <a:prstGeom prst="rect">
            <a:avLst/>
          </a:prstGeom>
          <a:solidFill>
            <a:srgbClr val="F8FAFC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955279" y="489204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PIIFilter为Phase2占位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2938759" y="4846320"/>
            <a:ext cx="1371600" cy="640080"/>
          </a:xfrm>
          <a:prstGeom prst="rect">
            <a:avLst/>
          </a:prstGeom>
          <a:solidFill>
            <a:srgbClr val="F8FAFC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13213080" y="5010912"/>
            <a:ext cx="822960" cy="320040"/>
          </a:xfrm>
          <a:prstGeom prst="roundRect">
            <a:avLst/>
          </a:prstGeom>
          <a:solidFill>
            <a:srgbClr val="F59E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3213080" y="504748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待完成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7200" y="5532120"/>
            <a:ext cx="22860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48640" y="55778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元数据抽取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88920" y="5532120"/>
            <a:ext cx="50292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880360" y="557784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关键词/Tags自动提取</a:t>
            </a:r>
            <a:br/>
            <a:r>
              <a:t>LLM批量生成摘要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863840" y="5532120"/>
            <a:ext cx="50292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955279" y="557784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MetadataExtractor已完成</a:t>
            </a:r>
            <a:br/>
            <a:r>
              <a:t>LLM/本地双模式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2938759" y="5532120"/>
            <a:ext cx="13716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13213080" y="5696712"/>
            <a:ext cx="822960" cy="320040"/>
          </a:xfrm>
          <a:prstGeom prst="roundRect">
            <a:avLst/>
          </a:prstGeom>
          <a:solidFill>
            <a:srgbClr val="0F9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3213080" y="573328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已完成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72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</a:defRPr>
            </a:pPr>
            <a:r>
              <a:t>图例：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828800" y="6419088"/>
            <a:ext cx="731520" cy="228600"/>
          </a:xfrm>
          <a:prstGeom prst="roundRect">
            <a:avLst/>
          </a:prstGeom>
          <a:solidFill>
            <a:srgbClr val="0F9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651760" y="638251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已完成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114800" y="6419088"/>
            <a:ext cx="731520" cy="228600"/>
          </a:xfrm>
          <a:prstGeom prst="roundRect">
            <a:avLst/>
          </a:prstGeom>
          <a:solidFill>
            <a:srgbClr val="F59E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937760" y="638251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待完成/Phase2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371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四、知识召回全流程 - 概览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68680"/>
            <a:ext cx="13898880" cy="1371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371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E293B"/>
                </a:solidFill>
              </a:defRPr>
            </a:pPr>
            <a:r>
              <a:t>知识召回全流程 - 12步精密Pipeline</a:t>
            </a:r>
          </a:p>
        </p:txBody>
      </p:sp>
      <p:sp>
        <p:nvSpPr>
          <p:cNvPr id="6" name="Oval 5"/>
          <p:cNvSpPr/>
          <p:nvPr/>
        </p:nvSpPr>
        <p:spPr>
          <a:xfrm>
            <a:off x="1005840" y="1463040"/>
            <a:ext cx="365760" cy="365760"/>
          </a:xfrm>
          <a:prstGeom prst="ellipse">
            <a:avLst/>
          </a:prstGeom>
          <a:solidFill>
            <a:srgbClr val="0F9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087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920240"/>
            <a:ext cx="2103120" cy="822960"/>
          </a:xfrm>
          <a:prstGeom prst="roundRect">
            <a:avLst/>
          </a:prstGeom>
          <a:solidFill>
            <a:srgbClr val="F8FAFC"/>
          </a:solidFill>
          <a:ln>
            <a:solidFill>
              <a:srgbClr val="0F9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9659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9D5C"/>
                </a:solidFill>
              </a:defRPr>
            </a:pPr>
            <a:r>
              <a:t>用户输入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2860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Query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224028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-&gt;</a:t>
            </a:r>
          </a:p>
        </p:txBody>
      </p:sp>
      <p:sp>
        <p:nvSpPr>
          <p:cNvPr id="12" name="Oval 11"/>
          <p:cNvSpPr/>
          <p:nvPr/>
        </p:nvSpPr>
        <p:spPr>
          <a:xfrm>
            <a:off x="3383280" y="1463040"/>
            <a:ext cx="365760" cy="365760"/>
          </a:xfrm>
          <a:prstGeom prst="ellipse">
            <a:avLst/>
          </a:prstGeom>
          <a:solidFill>
            <a:srgbClr val="0F9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5087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51760" y="1920240"/>
            <a:ext cx="2103120" cy="822960"/>
          </a:xfrm>
          <a:prstGeom prst="roundRect">
            <a:avLst/>
          </a:prstGeom>
          <a:solidFill>
            <a:srgbClr val="F8FAFC"/>
          </a:solidFill>
          <a:ln>
            <a:solidFill>
              <a:srgbClr val="0F9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51760" y="19659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9D5C"/>
                </a:solidFill>
              </a:defRPr>
            </a:pPr>
            <a:r>
              <a:t>缓存检查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22860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Redis命中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224028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-&gt;</a:t>
            </a:r>
          </a:p>
        </p:txBody>
      </p:sp>
      <p:sp>
        <p:nvSpPr>
          <p:cNvPr id="18" name="Oval 17"/>
          <p:cNvSpPr/>
          <p:nvPr/>
        </p:nvSpPr>
        <p:spPr>
          <a:xfrm>
            <a:off x="5760720" y="1463040"/>
            <a:ext cx="365760" cy="365760"/>
          </a:xfrm>
          <a:prstGeom prst="ellipse">
            <a:avLst/>
          </a:prstGeom>
          <a:solidFill>
            <a:srgbClr val="0F9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0" y="15087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1920240"/>
            <a:ext cx="2103120" cy="822960"/>
          </a:xfrm>
          <a:prstGeom prst="roundRect">
            <a:avLst/>
          </a:prstGeom>
          <a:solidFill>
            <a:srgbClr val="F8FAFC"/>
          </a:solidFill>
          <a:ln>
            <a:solidFill>
              <a:srgbClr val="0F9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0" y="19659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9D5C"/>
                </a:solidFill>
              </a:defRPr>
            </a:pPr>
            <a:r>
              <a:t>上下文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22860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10轮会话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224028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-&gt;</a:t>
            </a:r>
          </a:p>
        </p:txBody>
      </p:sp>
      <p:sp>
        <p:nvSpPr>
          <p:cNvPr id="24" name="Oval 23"/>
          <p:cNvSpPr/>
          <p:nvPr/>
        </p:nvSpPr>
        <p:spPr>
          <a:xfrm>
            <a:off x="8138160" y="1463040"/>
            <a:ext cx="365760" cy="365760"/>
          </a:xfrm>
          <a:prstGeom prst="ellipse">
            <a:avLst/>
          </a:prstGeom>
          <a:solidFill>
            <a:srgbClr val="0F9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160" y="15087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06640" y="1920240"/>
            <a:ext cx="2103120" cy="822960"/>
          </a:xfrm>
          <a:prstGeom prst="roundRect">
            <a:avLst/>
          </a:prstGeom>
          <a:solidFill>
            <a:srgbClr val="F8FAFC"/>
          </a:solidFill>
          <a:ln>
            <a:solidFill>
              <a:srgbClr val="0F9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06640" y="19659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9D5C"/>
                </a:solidFill>
              </a:defRPr>
            </a:pPr>
            <a:r>
              <a:t>查询改写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22860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同义词+消解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55480" y="224028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-&gt;</a:t>
            </a:r>
          </a:p>
        </p:txBody>
      </p:sp>
      <p:sp>
        <p:nvSpPr>
          <p:cNvPr id="30" name="Oval 29"/>
          <p:cNvSpPr/>
          <p:nvPr/>
        </p:nvSpPr>
        <p:spPr>
          <a:xfrm>
            <a:off x="10515600" y="1463040"/>
            <a:ext cx="365760" cy="365760"/>
          </a:xfrm>
          <a:prstGeom prst="ellipse">
            <a:avLst/>
          </a:prstGeom>
          <a:solidFill>
            <a:srgbClr val="0F9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5600" y="15087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784080" y="1920240"/>
            <a:ext cx="2103120" cy="822960"/>
          </a:xfrm>
          <a:prstGeom prst="roundRect">
            <a:avLst/>
          </a:prstGeom>
          <a:solidFill>
            <a:srgbClr val="F8FAFC"/>
          </a:solidFill>
          <a:ln>
            <a:solidFill>
              <a:srgbClr val="0F9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84080" y="19659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9D5C"/>
                </a:solidFill>
              </a:defRPr>
            </a:pPr>
            <a:r>
              <a:t>向量化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22860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BGE-zh 1024维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932920" y="224028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-&gt;</a:t>
            </a:r>
          </a:p>
        </p:txBody>
      </p:sp>
      <p:sp>
        <p:nvSpPr>
          <p:cNvPr id="36" name="Oval 35"/>
          <p:cNvSpPr/>
          <p:nvPr/>
        </p:nvSpPr>
        <p:spPr>
          <a:xfrm>
            <a:off x="12893040" y="1463040"/>
            <a:ext cx="365760" cy="365760"/>
          </a:xfrm>
          <a:prstGeom prst="ellipse">
            <a:avLst/>
          </a:prstGeom>
          <a:solidFill>
            <a:srgbClr val="0F9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93040" y="15087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161520" y="1920240"/>
            <a:ext cx="2103120" cy="822960"/>
          </a:xfrm>
          <a:prstGeom prst="roundRect">
            <a:avLst/>
          </a:prstGeom>
          <a:solidFill>
            <a:srgbClr val="F8FAFC"/>
          </a:solidFill>
          <a:ln>
            <a:solidFill>
              <a:srgbClr val="0F9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161520" y="19659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9D5C"/>
                </a:solidFill>
              </a:defRPr>
            </a:pPr>
            <a:r>
              <a:t>Dense检索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161520" y="22860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Milvus Top50</a:t>
            </a:r>
          </a:p>
        </p:txBody>
      </p:sp>
      <p:sp>
        <p:nvSpPr>
          <p:cNvPr id="41" name="Oval 40"/>
          <p:cNvSpPr/>
          <p:nvPr/>
        </p:nvSpPr>
        <p:spPr>
          <a:xfrm>
            <a:off x="1005840" y="3108960"/>
            <a:ext cx="365760" cy="365760"/>
          </a:xfrm>
          <a:prstGeom prst="ellipse">
            <a:avLst/>
          </a:prstGeom>
          <a:solidFill>
            <a:srgbClr val="0F9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5840" y="31546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74320" y="3566160"/>
            <a:ext cx="2103120" cy="822960"/>
          </a:xfrm>
          <a:prstGeom prst="roundRect">
            <a:avLst/>
          </a:prstGeom>
          <a:solidFill>
            <a:srgbClr val="F8FAFC"/>
          </a:solidFill>
          <a:ln>
            <a:solidFill>
              <a:srgbClr val="0F9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4320" y="36118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9D5C"/>
                </a:solidFill>
              </a:defRPr>
            </a:pPr>
            <a:r>
              <a:t>ACL过滤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" y="39319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权限预过滤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423160" y="388620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-&gt;</a:t>
            </a:r>
          </a:p>
        </p:txBody>
      </p:sp>
      <p:sp>
        <p:nvSpPr>
          <p:cNvPr id="47" name="Oval 46"/>
          <p:cNvSpPr/>
          <p:nvPr/>
        </p:nvSpPr>
        <p:spPr>
          <a:xfrm>
            <a:off x="3383280" y="3108960"/>
            <a:ext cx="365760" cy="365760"/>
          </a:xfrm>
          <a:prstGeom prst="ellipse">
            <a:avLst/>
          </a:prstGeom>
          <a:solidFill>
            <a:srgbClr val="0F9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383280" y="31546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651760" y="3566160"/>
            <a:ext cx="2103120" cy="822960"/>
          </a:xfrm>
          <a:prstGeom prst="roundRect">
            <a:avLst/>
          </a:prstGeom>
          <a:solidFill>
            <a:srgbClr val="F8FAFC"/>
          </a:solidFill>
          <a:ln>
            <a:solidFill>
              <a:srgbClr val="0F9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651760" y="36118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9D5C"/>
                </a:solidFill>
              </a:defRPr>
            </a:pPr>
            <a:r>
              <a:t>空间过滤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651760" y="39319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spaceId子树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00600" y="388620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-&gt;</a:t>
            </a:r>
          </a:p>
        </p:txBody>
      </p:sp>
      <p:sp>
        <p:nvSpPr>
          <p:cNvPr id="53" name="Oval 52"/>
          <p:cNvSpPr/>
          <p:nvPr/>
        </p:nvSpPr>
        <p:spPr>
          <a:xfrm>
            <a:off x="5760720" y="3108960"/>
            <a:ext cx="365760" cy="365760"/>
          </a:xfrm>
          <a:prstGeom prst="ellipse">
            <a:avLst/>
          </a:prstGeom>
          <a:solidFill>
            <a:srgbClr val="0F9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760720" y="31546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029200" y="3566160"/>
            <a:ext cx="2103120" cy="822960"/>
          </a:xfrm>
          <a:prstGeom prst="roundRect">
            <a:avLst/>
          </a:prstGeom>
          <a:solidFill>
            <a:srgbClr val="F8FAFC"/>
          </a:solidFill>
          <a:ln>
            <a:solidFill>
              <a:srgbClr val="0F9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029200" y="36118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9D5C"/>
                </a:solidFill>
              </a:defRPr>
            </a:pPr>
            <a:r>
              <a:t>Rerank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29200" y="39319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Top20-&gt;Top5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178040" y="388620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-&gt;</a:t>
            </a:r>
          </a:p>
        </p:txBody>
      </p:sp>
      <p:sp>
        <p:nvSpPr>
          <p:cNvPr id="59" name="Oval 58"/>
          <p:cNvSpPr/>
          <p:nvPr/>
        </p:nvSpPr>
        <p:spPr>
          <a:xfrm>
            <a:off x="8138160" y="3108960"/>
            <a:ext cx="365760" cy="365760"/>
          </a:xfrm>
          <a:prstGeom prst="ellipse">
            <a:avLst/>
          </a:prstGeom>
          <a:solidFill>
            <a:srgbClr val="0F9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138160" y="31546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406640" y="3566160"/>
            <a:ext cx="2103120" cy="822960"/>
          </a:xfrm>
          <a:prstGeom prst="roundRect">
            <a:avLst/>
          </a:prstGeom>
          <a:solidFill>
            <a:srgbClr val="F8FAFC"/>
          </a:solidFill>
          <a:ln>
            <a:solidFill>
              <a:srgbClr val="0F9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406640" y="36118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9D5C"/>
                </a:solidFill>
              </a:defRPr>
            </a:pPr>
            <a:r>
              <a:t>DB校验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406640" y="39319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ACL二次校验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555480" y="388620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-&gt;</a:t>
            </a:r>
          </a:p>
        </p:txBody>
      </p:sp>
      <p:sp>
        <p:nvSpPr>
          <p:cNvPr id="65" name="Oval 64"/>
          <p:cNvSpPr/>
          <p:nvPr/>
        </p:nvSpPr>
        <p:spPr>
          <a:xfrm>
            <a:off x="10515600" y="3108960"/>
            <a:ext cx="365760" cy="365760"/>
          </a:xfrm>
          <a:prstGeom prst="ellipse">
            <a:avLst/>
          </a:prstGeom>
          <a:solidFill>
            <a:srgbClr val="0F9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515600" y="31546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784080" y="3566160"/>
            <a:ext cx="2103120" cy="822960"/>
          </a:xfrm>
          <a:prstGeom prst="roundRect">
            <a:avLst/>
          </a:prstGeom>
          <a:solidFill>
            <a:srgbClr val="F8FAFC"/>
          </a:solidFill>
          <a:ln>
            <a:solidFill>
              <a:srgbClr val="0F9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784080" y="36118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9D5C"/>
                </a:solidFill>
              </a:defRPr>
            </a:pPr>
            <a:r>
              <a:t>Parent回捞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784080" y="39319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完整上下文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932920" y="388620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-&gt;</a:t>
            </a:r>
          </a:p>
        </p:txBody>
      </p:sp>
      <p:sp>
        <p:nvSpPr>
          <p:cNvPr id="71" name="Oval 70"/>
          <p:cNvSpPr/>
          <p:nvPr/>
        </p:nvSpPr>
        <p:spPr>
          <a:xfrm>
            <a:off x="12893040" y="3108960"/>
            <a:ext cx="365760" cy="365760"/>
          </a:xfrm>
          <a:prstGeom prst="ellipse">
            <a:avLst/>
          </a:prstGeom>
          <a:solidFill>
            <a:srgbClr val="0F9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2893040" y="31546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2161520" y="3566160"/>
            <a:ext cx="2103120" cy="822960"/>
          </a:xfrm>
          <a:prstGeom prst="roundRect">
            <a:avLst/>
          </a:prstGeom>
          <a:solidFill>
            <a:srgbClr val="F8FAFC"/>
          </a:solidFill>
          <a:ln>
            <a:solidFill>
              <a:srgbClr val="0F9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2161520" y="36118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9D5C"/>
                </a:solidFill>
              </a:defRPr>
            </a:pPr>
            <a:r>
              <a:t>拒答+生成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2161520" y="39319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LLM+引用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" y="4937760"/>
            <a:ext cx="1371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293B"/>
                </a:solidFill>
              </a:defRPr>
            </a:pPr>
            <a:r>
              <a:t>核心创新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57200" y="5349240"/>
            <a:ext cx="1371600" cy="320040"/>
          </a:xfrm>
          <a:prstGeom prst="roundRect">
            <a:avLst/>
          </a:prstGeom>
          <a:solidFill>
            <a:srgbClr val="0F9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57200" y="53766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三级拒答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920240" y="537667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无结果/低置信&lt;0.3/无权限-&gt;委婉拒答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7589520" y="5349240"/>
            <a:ext cx="1371600" cy="320040"/>
          </a:xfrm>
          <a:prstGeom prst="roundRect">
            <a:avLst/>
          </a:prstGeom>
          <a:solidFill>
            <a:srgbClr val="0F9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589520" y="53766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Token预算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052560" y="537667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上下文窗口8192，输入预算75%，超长引用首尾压缩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57200" y="6172200"/>
            <a:ext cx="1371600" cy="320040"/>
          </a:xfrm>
          <a:prstGeom prst="roundRect">
            <a:avLst/>
          </a:prstGeom>
          <a:solidFill>
            <a:srgbClr val="0F9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57200" y="61996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Parent回捞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920240" y="619963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检索用子弹精确命中，生成用炮弹提供完整上下文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589520" y="6172200"/>
            <a:ext cx="1371600" cy="320040"/>
          </a:xfrm>
          <a:prstGeom prst="roundRect">
            <a:avLst/>
          </a:prstGeom>
          <a:solidFill>
            <a:srgbClr val="0F9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589520" y="61996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全链路Trace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052560" y="619963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trace_id贯穿前端-&gt;网关-&gt;所有微服务-&gt;Kafka-&gt;Milvus-&gt;LLM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371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四、知识召回全流程 - 技术架构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68680"/>
            <a:ext cx="13898880" cy="1371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371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E293B"/>
                </a:solidFill>
              </a:defRPr>
            </a:pPr>
            <a:r>
              <a:t>知识召回全流程 - 技术架构详解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463040"/>
            <a:ext cx="6766560" cy="4937760"/>
          </a:xfrm>
          <a:prstGeom prst="roundRect">
            <a:avLst/>
          </a:prstGeom>
          <a:solidFill>
            <a:srgbClr val="F8FAFC"/>
          </a:solidFill>
          <a:ln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</a:defRPr>
            </a:pPr>
            <a:r>
              <a:t>多路召回架构（Phase2规划）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3108960" cy="118872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Dense向量检索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6888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Milvus HNSW索引</a:t>
            </a:r>
            <a:br/>
            <a:r>
              <a:t>cosine相似度 Top50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0" y="2011680"/>
            <a:ext cx="3108960" cy="1188720"/>
          </a:xfrm>
          <a:prstGeom prst="roundRect">
            <a:avLst/>
          </a:prstGeom>
          <a:solidFill>
            <a:srgbClr val="0F9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0" y="21031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BM25关键词检索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246888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PostgreSQL全文索引</a:t>
            </a:r>
            <a:br/>
            <a:r>
              <a:t>jieba分词+审计词典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83280"/>
            <a:ext cx="3108960" cy="118872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4747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Structured条款检索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84048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section_path精确匹配</a:t>
            </a:r>
            <a:br/>
            <a:r>
              <a:t>条款编号Fast Path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0480" y="3383280"/>
            <a:ext cx="3108960" cy="1188720"/>
          </a:xfrm>
          <a:prstGeom prst="roundRect">
            <a:avLst/>
          </a:prstGeom>
          <a:solidFill>
            <a:srgbClr val="F59E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0" y="34747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FAQ缓存短路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384048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向量库 cosine&gt;=0.92</a:t>
            </a:r>
            <a:br/>
            <a:r>
              <a:t>直接返回答案，0ms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7548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56DB"/>
                </a:solidFill>
              </a:defRPr>
            </a:pPr>
            <a:r>
              <a:t>RRF多路融合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0749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Reciprocal Rank Fusion (k=60) 将多路召回分数归一化融合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0" y="1463040"/>
            <a:ext cx="6949440" cy="4937760"/>
          </a:xfrm>
          <a:prstGeom prst="roundRect">
            <a:avLst/>
          </a:prstGeom>
          <a:solidFill>
            <a:srgbClr val="F8FAFC"/>
          </a:solidFill>
          <a:ln>
            <a:solidFill>
              <a:srgbClr val="0F9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06640" y="1554480"/>
            <a:ext cx="6766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9D5C"/>
                </a:solidFill>
              </a:defRPr>
            </a:pPr>
            <a:r>
              <a:t>精排与权限控制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06640" y="2011680"/>
            <a:ext cx="2286000" cy="320040"/>
          </a:xfrm>
          <a:prstGeom prst="roundRect">
            <a:avLst/>
          </a:prstGeom>
          <a:solidFill>
            <a:srgbClr val="0F9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06640" y="20391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BGE-Reranker-v2-m3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201168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本地部署精排模型</a:t>
            </a:r>
            <a:br/>
            <a:r>
              <a:t>Top20 -&gt; Top5</a:t>
            </a:r>
            <a:br/>
            <a:r>
              <a:t>引用准确率 70%-&gt;85%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06640" y="3108960"/>
            <a:ext cx="2286000" cy="32004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0" y="31363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ACL两道防线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80" y="310896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1. Milvus预过滤(快，缩小候选集)</a:t>
            </a:r>
            <a:br/>
            <a:r>
              <a:t>2. PostgreSQL二次校验(权威，精确授权)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06640" y="4206240"/>
            <a:ext cx="2286000" cy="3200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06640" y="42336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ChunkType加权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4080" y="420624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definition +0.05</a:t>
            </a:r>
            <a:br/>
            <a:r>
              <a:t>rule +0.03</a:t>
            </a:r>
            <a:br/>
            <a:r>
              <a:t>procedure +0.01</a:t>
            </a:r>
            <a:br/>
            <a:r>
              <a:t>disclaimer -0.03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06640" y="5303520"/>
            <a:ext cx="2286000" cy="320040"/>
          </a:xfrm>
          <a:prstGeom prst="roundRect">
            <a:avLst/>
          </a:prstGeom>
          <a:solidFill>
            <a:srgbClr val="F59E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0" y="53309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Parent回捞机制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4080" y="530352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根据parent_ref回捞完整上下文</a:t>
            </a:r>
            <a:br/>
            <a:r>
              <a:t>检索用子弹，生成用炮弹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371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四、知识召回全流程 - 期望vs现状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68680"/>
            <a:ext cx="13898880" cy="1371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371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E293B"/>
                </a:solidFill>
              </a:defRPr>
            </a:pPr>
            <a:r>
              <a:t>知识召回能力 - 期望 vs 现状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2286000" cy="457200"/>
          </a:xfrm>
          <a:prstGeom prst="roundRect">
            <a:avLst/>
          </a:prstGeom>
          <a:solidFill>
            <a:srgbClr val="0F9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276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环节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8920" y="1554480"/>
            <a:ext cx="5029200" cy="457200"/>
          </a:xfrm>
          <a:prstGeom prst="roundRect">
            <a:avLst/>
          </a:prstGeom>
          <a:solidFill>
            <a:srgbClr val="0F9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88920" y="162763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期望能力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554480"/>
            <a:ext cx="5029200" cy="457200"/>
          </a:xfrm>
          <a:prstGeom prst="roundRect">
            <a:avLst/>
          </a:prstGeom>
          <a:solidFill>
            <a:srgbClr val="0F9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162763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现状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938759" y="1554480"/>
            <a:ext cx="1371600" cy="457200"/>
          </a:xfrm>
          <a:prstGeom prst="roundRect">
            <a:avLst/>
          </a:prstGeom>
          <a:solidFill>
            <a:srgbClr val="0F9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938759" y="162763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状态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103120"/>
            <a:ext cx="2286000" cy="640080"/>
          </a:xfrm>
          <a:prstGeom prst="rect">
            <a:avLst/>
          </a:prstGeom>
          <a:solidFill>
            <a:srgbClr val="F8FAFC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148839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Dense检索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88920" y="2103120"/>
            <a:ext cx="5029200" cy="640080"/>
          </a:xfrm>
          <a:prstGeom prst="rect">
            <a:avLst/>
          </a:prstGeom>
          <a:solidFill>
            <a:srgbClr val="F8FAFC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80360" y="2148839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Milvus HNSW向量检索</a:t>
            </a:r>
            <a:br/>
            <a:r>
              <a:t>Top50候选集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0" y="2103120"/>
            <a:ext cx="5029200" cy="640080"/>
          </a:xfrm>
          <a:prstGeom prst="rect">
            <a:avLst/>
          </a:prstGeom>
          <a:solidFill>
            <a:srgbClr val="F8FAFC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79" y="2148839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已完成</a:t>
            </a:r>
            <a:br/>
            <a:r>
              <a:t>Milvus HNSW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938759" y="2103120"/>
            <a:ext cx="1371600" cy="640080"/>
          </a:xfrm>
          <a:prstGeom prst="rect">
            <a:avLst/>
          </a:prstGeom>
          <a:solidFill>
            <a:srgbClr val="F8FAFC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3213080" y="2267712"/>
            <a:ext cx="822960" cy="320040"/>
          </a:xfrm>
          <a:prstGeom prst="roundRect">
            <a:avLst/>
          </a:prstGeom>
          <a:solidFill>
            <a:srgbClr val="0F9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213080" y="230428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已完成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788920"/>
            <a:ext cx="22860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2834639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查询改写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88920" y="2788920"/>
            <a:ext cx="50292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80360" y="2834639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同义词扩展+指代消解</a:t>
            </a:r>
            <a:br/>
            <a:r>
              <a:t>条款关键词增强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63840" y="2788920"/>
            <a:ext cx="50292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79" y="2834639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已完成</a:t>
            </a:r>
            <a:br/>
            <a:r>
              <a:t>同义词+关键词增强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2938759" y="2788920"/>
            <a:ext cx="13716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3213080" y="2953512"/>
            <a:ext cx="822960" cy="320040"/>
          </a:xfrm>
          <a:prstGeom prst="roundRect">
            <a:avLst/>
          </a:prstGeom>
          <a:solidFill>
            <a:srgbClr val="0F9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213080" y="299008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已完成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474720"/>
            <a:ext cx="2286000" cy="640080"/>
          </a:xfrm>
          <a:prstGeom prst="rect">
            <a:avLst/>
          </a:prstGeom>
          <a:solidFill>
            <a:srgbClr val="F8FAFC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3520439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Rerank精排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88920" y="3474720"/>
            <a:ext cx="5029200" cy="640080"/>
          </a:xfrm>
          <a:prstGeom prst="rect">
            <a:avLst/>
          </a:prstGeom>
          <a:solidFill>
            <a:srgbClr val="F8FAFC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80360" y="3520439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BGE-Reranker-v2-m3</a:t>
            </a:r>
            <a:br/>
            <a:r>
              <a:t>Top20-&gt;Top5本地部署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63840" y="3474720"/>
            <a:ext cx="5029200" cy="640080"/>
          </a:xfrm>
          <a:prstGeom prst="rect">
            <a:avLst/>
          </a:prstGeom>
          <a:solidFill>
            <a:srgbClr val="F8FAFC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55279" y="3520439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已完成</a:t>
            </a:r>
            <a:br/>
            <a:r>
              <a:t>BGE-Reranker本地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938759" y="3474720"/>
            <a:ext cx="1371600" cy="640080"/>
          </a:xfrm>
          <a:prstGeom prst="rect">
            <a:avLst/>
          </a:prstGeom>
          <a:solidFill>
            <a:srgbClr val="F8FAFC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3213080" y="3639312"/>
            <a:ext cx="822960" cy="320040"/>
          </a:xfrm>
          <a:prstGeom prst="roundRect">
            <a:avLst/>
          </a:prstGeom>
          <a:solidFill>
            <a:srgbClr val="0F9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3213080" y="3675887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已完成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160520"/>
            <a:ext cx="22860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42062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ACL两道防线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88920" y="4160520"/>
            <a:ext cx="50292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880360" y="420624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Milvus预过滤+PG二次校验</a:t>
            </a:r>
            <a:br/>
            <a:r>
              <a:t>租户/密级/权限组/地区/业务域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863840" y="4160520"/>
            <a:ext cx="50292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955279" y="420624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已完成</a:t>
            </a:r>
            <a:br/>
            <a:r>
              <a:t>Milvus预过滤+PG校验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2938759" y="4160520"/>
            <a:ext cx="13716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13213080" y="4325112"/>
            <a:ext cx="822960" cy="320040"/>
          </a:xfrm>
          <a:prstGeom prst="roundRect">
            <a:avLst/>
          </a:prstGeom>
          <a:solidFill>
            <a:srgbClr val="0F9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3213080" y="436168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已完成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4846320"/>
            <a:ext cx="2286000" cy="640080"/>
          </a:xfrm>
          <a:prstGeom prst="rect">
            <a:avLst/>
          </a:prstGeom>
          <a:solidFill>
            <a:srgbClr val="F8FAFC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48920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BM25关键词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88920" y="4846320"/>
            <a:ext cx="5029200" cy="640080"/>
          </a:xfrm>
          <a:prstGeom prst="rect">
            <a:avLst/>
          </a:prstGeom>
          <a:solidFill>
            <a:srgbClr val="F8FAFC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880360" y="489204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PostgreSQL全文索引</a:t>
            </a:r>
            <a:br/>
            <a:r>
              <a:t>jieba分词+审计词典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863840" y="4846320"/>
            <a:ext cx="5029200" cy="640080"/>
          </a:xfrm>
          <a:prstGeom prst="rect">
            <a:avLst/>
          </a:prstGeom>
          <a:solidFill>
            <a:srgbClr val="F8FAFC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955279" y="489204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Phase2规划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2938759" y="4846320"/>
            <a:ext cx="1371600" cy="640080"/>
          </a:xfrm>
          <a:prstGeom prst="rect">
            <a:avLst/>
          </a:prstGeom>
          <a:solidFill>
            <a:srgbClr val="F8FAFC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13213080" y="5010912"/>
            <a:ext cx="822960" cy="320040"/>
          </a:xfrm>
          <a:prstGeom prst="roundRect">
            <a:avLst/>
          </a:prstGeom>
          <a:solidFill>
            <a:srgbClr val="F59E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3213080" y="504748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待完成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7200" y="5532120"/>
            <a:ext cx="22860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48640" y="55778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FAQ缓存短路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88920" y="5532120"/>
            <a:ext cx="50292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880360" y="557784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向量库cosine&gt;=0.92直接返回</a:t>
            </a:r>
            <a:br/>
            <a:r>
              <a:t>延迟0ms，成本0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863840" y="5532120"/>
            <a:ext cx="50292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955279" y="557784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Phase2规划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2938759" y="5532120"/>
            <a:ext cx="13716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13213080" y="5696712"/>
            <a:ext cx="822960" cy="320040"/>
          </a:xfrm>
          <a:prstGeom prst="roundRect">
            <a:avLst/>
          </a:prstGeom>
          <a:solidFill>
            <a:srgbClr val="F59E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3213080" y="573328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待完成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7200" y="6217920"/>
            <a:ext cx="2286000" cy="640080"/>
          </a:xfrm>
          <a:prstGeom prst="rect">
            <a:avLst/>
          </a:prstGeom>
          <a:solidFill>
            <a:srgbClr val="F8FAFC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48640" y="62636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RRF多路融合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788920" y="6217920"/>
            <a:ext cx="5029200" cy="640080"/>
          </a:xfrm>
          <a:prstGeom prst="rect">
            <a:avLst/>
          </a:prstGeom>
          <a:solidFill>
            <a:srgbClr val="F8FAFC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880360" y="626364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Dense+BM25+Structured+FAQ</a:t>
            </a:r>
            <a:br/>
            <a:r>
              <a:t>Reciprocal Rank Fusion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863840" y="6217920"/>
            <a:ext cx="5029200" cy="640080"/>
          </a:xfrm>
          <a:prstGeom prst="rect">
            <a:avLst/>
          </a:prstGeom>
          <a:solidFill>
            <a:srgbClr val="F8FAFC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955279" y="626364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Phase2规划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2938759" y="6217920"/>
            <a:ext cx="1371600" cy="640080"/>
          </a:xfrm>
          <a:prstGeom prst="rect">
            <a:avLst/>
          </a:prstGeom>
          <a:solidFill>
            <a:srgbClr val="F8FAFC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13213080" y="6382512"/>
            <a:ext cx="822960" cy="320040"/>
          </a:xfrm>
          <a:prstGeom prst="roundRect">
            <a:avLst/>
          </a:prstGeom>
          <a:solidFill>
            <a:srgbClr val="F59E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3213080" y="641908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待完成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57200" y="6903720"/>
            <a:ext cx="22860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48640" y="69494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LLM查询改写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788920" y="6903720"/>
            <a:ext cx="50292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880360" y="694944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结构化JSON输出</a:t>
            </a:r>
            <a:br/>
            <a:r>
              <a:t>mainQuery+subQueries+intent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863840" y="6903720"/>
            <a:ext cx="50292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955279" y="694944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Phase2规划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2938759" y="6903720"/>
            <a:ext cx="13716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13213080" y="7068312"/>
            <a:ext cx="822960" cy="320040"/>
          </a:xfrm>
          <a:prstGeom prst="roundRect">
            <a:avLst/>
          </a:prstGeom>
          <a:solidFill>
            <a:srgbClr val="F59E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3213080" y="710488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待完成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7200" y="7589520"/>
            <a:ext cx="1371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9D5C"/>
                </a:solidFill>
              </a:defRPr>
            </a:pPr>
            <a:r>
              <a:t>Phase2核心目标：Recall@5: 45%-&gt;75% | 引用准确率: 70%-&gt;85% | 高频FAQ延迟: 3s-&gt;100ms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371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四、专家中心 - 角色化智能体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68680"/>
            <a:ext cx="13898880" cy="1371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371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E293B"/>
                </a:solidFill>
              </a:defRPr>
            </a:pPr>
            <a:r>
              <a:t>专家中心 - 角色化智能体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463040"/>
            <a:ext cx="4572000" cy="4114800"/>
          </a:xfrm>
          <a:prstGeom prst="roundRect">
            <a:avLst/>
          </a:prstGeom>
          <a:solidFill>
            <a:srgbClr val="F8FAFC"/>
          </a:solidFill>
          <a:ln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</a:defRPr>
            </a:pPr>
            <a:r>
              <a:t>什么是专家中心？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4389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每个专家相当于一个智能体，具备：</a:t>
            </a:r>
            <a:br/>
            <a:br/>
            <a:r>
              <a:t>* RAG检索能力：自动从知识库召回相关信息</a:t>
            </a:r>
            <a:br/>
            <a:r>
              <a:t>* SystemPrompt：内嵌角色设定和回答风格</a:t>
            </a:r>
            <a:br/>
            <a:r>
              <a:t>* 独立入口：用户通过专家入口进行对话</a:t>
            </a:r>
            <a:br/>
            <a:r>
              <a:t>* 专业领域：每个专家专注一个业务领域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661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</a:defRPr>
            </a:pPr>
            <a:r>
              <a:t>与普通RAG问答的区别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77639"/>
            <a:ext cx="4389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普通RAG = 通用问答</a:t>
            </a:r>
            <a:br/>
            <a:r>
              <a:t>专家中心 = 角色化垂直领域问答</a:t>
            </a:r>
            <a:br/>
            <a:br/>
            <a:r>
              <a:t>专家 = RAG + SystemPrompt</a:t>
            </a:r>
            <a:br/>
            <a:r>
              <a:t>         = 知识召回 + 角色设定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554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专家类型示例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2011680"/>
            <a:ext cx="4480560" cy="192024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57800" y="214884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合规审计专家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256032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专注合规制度、监管要求、违规案例分析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57800" y="3063240"/>
            <a:ext cx="1280160" cy="320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57800" y="309067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56DB"/>
                </a:solidFill>
              </a:defRPr>
            </a:pPr>
            <a:r>
              <a:t>合规咨询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29400" y="3063240"/>
            <a:ext cx="1280160" cy="320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309067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56DB"/>
                </a:solidFill>
              </a:defRPr>
            </a:pPr>
            <a:r>
              <a:t>制度解读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01000" y="3063240"/>
            <a:ext cx="1280160" cy="320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01000" y="309067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56DB"/>
                </a:solidFill>
              </a:defRPr>
            </a:pPr>
            <a:r>
              <a:t>风险提示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84080" y="2011680"/>
            <a:ext cx="4480560" cy="1920240"/>
          </a:xfrm>
          <a:prstGeom prst="roundRect">
            <a:avLst/>
          </a:prstGeom>
          <a:solidFill>
            <a:srgbClr val="0F9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21240" y="214884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财务审计专家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21240" y="256032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专注会计准则、财务报表、税务法规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921240" y="3063240"/>
            <a:ext cx="1280160" cy="320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21240" y="309067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F9D5C"/>
                </a:solidFill>
              </a:defRPr>
            </a:pPr>
            <a:r>
              <a:t>报表分析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292840" y="3063240"/>
            <a:ext cx="1280160" cy="320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292840" y="309067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F9D5C"/>
                </a:solidFill>
              </a:defRPr>
            </a:pPr>
            <a:r>
              <a:t>准则解读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2664440" y="3063240"/>
            <a:ext cx="1280160" cy="320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664440" y="309067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F9D5C"/>
                </a:solidFill>
              </a:defRPr>
            </a:pPr>
            <a:r>
              <a:t>税务筹划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120640" y="4114800"/>
            <a:ext cx="4480560" cy="19202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57800" y="425196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内控咨询专家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57800" y="466344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专注内部控制、流程优化、风险管理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257800" y="5166360"/>
            <a:ext cx="1280160" cy="320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57800" y="51937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B5CF6"/>
                </a:solidFill>
              </a:defRPr>
            </a:pPr>
            <a:r>
              <a:t>内控评估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29400" y="5166360"/>
            <a:ext cx="1280160" cy="320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29400" y="51937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B5CF6"/>
                </a:solidFill>
              </a:defRPr>
            </a:pPr>
            <a:r>
              <a:t>流程诊断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01000" y="5166360"/>
            <a:ext cx="1280160" cy="320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01000" y="51937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B5CF6"/>
                </a:solidFill>
              </a:defRPr>
            </a:pPr>
            <a:r>
              <a:t>改进建议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784080" y="4114800"/>
            <a:ext cx="4480560" cy="1920240"/>
          </a:xfrm>
          <a:prstGeom prst="roundRect">
            <a:avLst/>
          </a:prstGeom>
          <a:solidFill>
            <a:srgbClr val="F59E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921240" y="425196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IT审计专家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21240" y="466344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专注信息系统、数据治理、网络安全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921240" y="5166360"/>
            <a:ext cx="1280160" cy="320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921240" y="51937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9E0C"/>
                </a:solidFill>
              </a:defRPr>
            </a:pPr>
            <a:r>
              <a:t>IT审计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292840" y="5166360"/>
            <a:ext cx="1280160" cy="320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292840" y="51937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9E0C"/>
                </a:solidFill>
              </a:defRPr>
            </a:pPr>
            <a:r>
              <a:t>数据安全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2664440" y="5166360"/>
            <a:ext cx="1280160" cy="320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2664440" y="51937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9E0C"/>
                </a:solidFill>
              </a:defRPr>
            </a:pPr>
            <a:r>
              <a:t>合规检测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5760720"/>
            <a:ext cx="1371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293B"/>
                </a:solidFill>
              </a:defRPr>
            </a:pPr>
            <a:r>
              <a:t>技术实现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65760" y="6217920"/>
            <a:ext cx="13898880" cy="914400"/>
          </a:xfrm>
          <a:prstGeom prst="roundRect">
            <a:avLst/>
          </a:prstGeom>
          <a:solidFill>
            <a:srgbClr val="F8FAFC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6355080"/>
            <a:ext cx="6766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专家配置表：expert_id, name, system_prompt, space_ids, tags, avatar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98079" y="6355080"/>
            <a:ext cx="6766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对话入口：select expert -&gt; load system_prompt -&gt; chat with RAG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6766560"/>
            <a:ext cx="6766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RAG召回：expert专属spaceIds过滤 + expert_tag权重boost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371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四、技能广场 - 工具+提示词+MCP扩展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68680"/>
            <a:ext cx="13898880" cy="1371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371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E293B"/>
                </a:solidFill>
              </a:defRPr>
            </a:pPr>
            <a:r>
              <a:t>技能广场 - 工具+提示词+MCP扩展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4480560" cy="3840480"/>
          </a:xfrm>
          <a:prstGeom prst="roundRect">
            <a:avLst/>
          </a:prstGeom>
          <a:solidFill>
            <a:srgbClr val="F8FAFC"/>
          </a:solidFill>
          <a:ln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103120" y="1645920"/>
            <a:ext cx="1188720" cy="118872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0" y="192024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2608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56DB"/>
                </a:solidFill>
              </a:defRPr>
            </a:pPr>
            <a:r>
              <a:t>提示词（Prompts）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3756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预置提示词模板</a:t>
            </a:r>
            <a:br/>
            <a:r>
              <a:t>专家角色设定</a:t>
            </a:r>
            <a:br/>
            <a:r>
              <a:t>问答风格控制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6052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* 合规审计prompt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480559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* 财务分析prompt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80060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* 风险评估prompt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12064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* 报告生成prompt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0640" y="1463040"/>
            <a:ext cx="4480560" cy="3840480"/>
          </a:xfrm>
          <a:prstGeom prst="roundRect">
            <a:avLst/>
          </a:prstGeom>
          <a:solidFill>
            <a:srgbClr val="F8FAFC"/>
          </a:solidFill>
          <a:ln>
            <a:solidFill>
              <a:srgbClr val="0F9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766559" y="1645920"/>
            <a:ext cx="1188720" cy="1188720"/>
          </a:xfrm>
          <a:prstGeom prst="ellipse">
            <a:avLst/>
          </a:prstGeom>
          <a:solidFill>
            <a:srgbClr val="0F9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59" y="192024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92608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9D5C"/>
                </a:solidFill>
              </a:defRPr>
            </a:pPr>
            <a:r>
              <a:t>技能（Skills）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333756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可复用的技能包</a:t>
            </a:r>
            <a:br/>
            <a:r>
              <a:t>工作流程自动化</a:t>
            </a:r>
            <a:br/>
            <a:r>
              <a:t>多步骤任务执行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59" y="416052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* 文档解析skill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59" y="4480559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* 数据提取skill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59" y="480060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* 报表生成skill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59" y="512064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* 邮件发送skill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84080" y="1463040"/>
            <a:ext cx="4480560" cy="3840480"/>
          </a:xfrm>
          <a:prstGeom prst="roundRect">
            <a:avLst/>
          </a:prstGeom>
          <a:solidFill>
            <a:srgbClr val="F8FAFC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30000" y="1645920"/>
            <a:ext cx="1188720" cy="118872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0" y="192024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0" y="292608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8B5CF6"/>
                </a:solidFill>
              </a:defRPr>
            </a:pPr>
            <a:r>
              <a:t>工具箱（Tools）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59" y="333756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独立工具集</a:t>
            </a:r>
            <a:br/>
            <a:r>
              <a:t>即点即用</a:t>
            </a:r>
            <a:br/>
            <a:r>
              <a:t>无需配置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416052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* 计算器工具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4480559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* 日期转换工具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480060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* JSON格式化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512064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* 正则测试工具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486400"/>
            <a:ext cx="1371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293B"/>
                </a:solidFill>
              </a:defRPr>
            </a:pPr>
            <a:r>
              <a:t>外部扩展对接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" y="5943600"/>
            <a:ext cx="13898880" cy="1280160"/>
          </a:xfrm>
          <a:prstGeom prst="roundRect">
            <a:avLst/>
          </a:prstGeom>
          <a:solidFill>
            <a:srgbClr val="F8FAFC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48640" y="6035040"/>
            <a:ext cx="1371600" cy="320040"/>
          </a:xfrm>
          <a:prstGeom prst="roundRect">
            <a:avLst/>
          </a:prstGeom>
          <a:solidFill>
            <a:srgbClr val="F59E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60624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Dify对接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11680" y="603504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支持接入外部Dify工作流</a:t>
            </a:r>
            <a:br/>
            <a:r>
              <a:t>作为工具被专家调用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212079" y="6035040"/>
            <a:ext cx="1371600" cy="32004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212079" y="60624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MCP服务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75119" y="603504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Model Context Protocol</a:t>
            </a:r>
            <a:br/>
            <a:r>
              <a:t>标准化智能体工具调用</a:t>
            </a:r>
            <a:br/>
            <a:r>
              <a:t>不同智能体按需插拔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875519" y="6035040"/>
            <a:ext cx="1371600" cy="320040"/>
          </a:xfrm>
          <a:prstGeom prst="roundRect">
            <a:avLst/>
          </a:prstGeom>
          <a:solidFill>
            <a:srgbClr val="0F9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875519" y="60624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自定义工具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338559" y="603504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用户可上传自定义工具</a:t>
            </a:r>
            <a:br/>
            <a:r>
              <a:t>Python脚本/Java类</a:t>
            </a:r>
            <a:br/>
            <a:r>
              <a:t>注册到工具箱即可用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371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五、数据评测体系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68680"/>
            <a:ext cx="13898880" cy="1371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371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E293B"/>
                </a:solidFill>
              </a:defRPr>
            </a:pPr>
            <a:r>
              <a:t>数据评测体系 - 持续提升召回准确率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371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293B"/>
                </a:solidFill>
              </a:defRPr>
            </a:pPr>
            <a:r>
              <a:t>评测闭环流程</a:t>
            </a:r>
          </a:p>
        </p:txBody>
      </p:sp>
      <p:sp>
        <p:nvSpPr>
          <p:cNvPr id="7" name="Oval 6"/>
          <p:cNvSpPr/>
          <p:nvPr/>
        </p:nvSpPr>
        <p:spPr>
          <a:xfrm>
            <a:off x="1371600" y="1920240"/>
            <a:ext cx="457200" cy="45720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199339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468880"/>
            <a:ext cx="2560320" cy="118872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5603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构建评测集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9260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4类QA标注</a:t>
            </a:r>
            <a:br/>
            <a:r>
              <a:t>FACTUAL/COMPARISON</a:t>
            </a:r>
            <a:br/>
            <a:r>
              <a:t>/MULTI_HOP/UNANSWERABLE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292608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</a:defRPr>
            </a:pPr>
            <a:r>
              <a:t>-&gt;</a:t>
            </a:r>
          </a:p>
        </p:txBody>
      </p:sp>
      <p:sp>
        <p:nvSpPr>
          <p:cNvPr id="13" name="Oval 12"/>
          <p:cNvSpPr/>
          <p:nvPr/>
        </p:nvSpPr>
        <p:spPr>
          <a:xfrm>
            <a:off x="4206240" y="1920240"/>
            <a:ext cx="457200" cy="457200"/>
          </a:xfrm>
          <a:prstGeom prst="ellipse">
            <a:avLst/>
          </a:prstGeom>
          <a:solidFill>
            <a:srgbClr val="0F9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0" y="199339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0" y="2468880"/>
            <a:ext cx="2560320" cy="1188720"/>
          </a:xfrm>
          <a:prstGeom prst="roundRect">
            <a:avLst/>
          </a:prstGeom>
          <a:solidFill>
            <a:srgbClr val="0F9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0" y="25603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执行评测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9260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评测集批量查询</a:t>
            </a:r>
            <a:br/>
            <a:r>
              <a:t>RAG Pipeline执行</a:t>
            </a:r>
            <a:br/>
            <a:r>
              <a:t>记录召回结果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292608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</a:defRPr>
            </a:pPr>
            <a:r>
              <a:t>-&gt;</a:t>
            </a:r>
          </a:p>
        </p:txBody>
      </p:sp>
      <p:sp>
        <p:nvSpPr>
          <p:cNvPr id="19" name="Oval 18"/>
          <p:cNvSpPr/>
          <p:nvPr/>
        </p:nvSpPr>
        <p:spPr>
          <a:xfrm>
            <a:off x="7040880" y="1920240"/>
            <a:ext cx="457200" cy="4572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0" y="199339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5040" y="2468880"/>
            <a:ext cx="2560320" cy="118872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35040" y="25603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结果分析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29260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Recall@K指标</a:t>
            </a:r>
            <a:br/>
            <a:r>
              <a:t>引用准确率</a:t>
            </a:r>
            <a:br/>
            <a:r>
              <a:t>幻觉率检测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41080" y="292608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</a:defRPr>
            </a:pPr>
            <a:r>
              <a:t>-&gt;</a:t>
            </a:r>
          </a:p>
        </p:txBody>
      </p:sp>
      <p:sp>
        <p:nvSpPr>
          <p:cNvPr id="25" name="Oval 24"/>
          <p:cNvSpPr/>
          <p:nvPr/>
        </p:nvSpPr>
        <p:spPr>
          <a:xfrm>
            <a:off x="9875520" y="1920240"/>
            <a:ext cx="457200" cy="457200"/>
          </a:xfrm>
          <a:prstGeom prst="ellipse">
            <a:avLst/>
          </a:prstGeom>
          <a:solidFill>
            <a:srgbClr val="F59E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75520" y="199339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69680" y="2468880"/>
            <a:ext cx="2560320" cy="1188720"/>
          </a:xfrm>
          <a:prstGeom prst="roundRect">
            <a:avLst/>
          </a:prstGeom>
          <a:solidFill>
            <a:srgbClr val="F59E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69680" y="25603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问题定位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0" y="29260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Badcase归档</a:t>
            </a:r>
            <a:br/>
            <a:r>
              <a:t>根因分析</a:t>
            </a:r>
            <a:br/>
            <a:r>
              <a:t>召回/生成归因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75720" y="292608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</a:defRPr>
            </a:pPr>
            <a:r>
              <a:t>-&gt;</a:t>
            </a:r>
          </a:p>
        </p:txBody>
      </p:sp>
      <p:sp>
        <p:nvSpPr>
          <p:cNvPr id="31" name="Oval 30"/>
          <p:cNvSpPr/>
          <p:nvPr/>
        </p:nvSpPr>
        <p:spPr>
          <a:xfrm>
            <a:off x="12710160" y="1920240"/>
            <a:ext cx="457200" cy="457200"/>
          </a:xfrm>
          <a:prstGeom prst="ellipse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710160" y="199339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1704320" y="2468880"/>
            <a:ext cx="2560320" cy="1188720"/>
          </a:xfrm>
          <a:prstGeom prst="round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704320" y="25603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优化迭代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795760" y="29260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召回策略调整</a:t>
            </a:r>
            <a:br/>
            <a:r>
              <a:t>分块方式优化</a:t>
            </a:r>
            <a:br/>
            <a:r>
              <a:t>模型微调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840480"/>
            <a:ext cx="1371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293B"/>
                </a:solidFill>
              </a:defRPr>
            </a:pPr>
            <a:r>
              <a:t>评测集类型（4类QA）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297680"/>
            <a:ext cx="3291840" cy="1463040"/>
          </a:xfrm>
          <a:prstGeom prst="roundRect">
            <a:avLst/>
          </a:prstGeom>
          <a:solidFill>
            <a:srgbClr val="F8FAFC"/>
          </a:solidFill>
          <a:ln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48640" y="4389120"/>
            <a:ext cx="1371600" cy="32004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44165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FACTUAL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47548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</a:defRPr>
            </a:pPr>
            <a:r>
              <a:t>事实性问答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1206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基于文档内容的直接问答</a:t>
            </a:r>
            <a:br/>
            <a:r>
              <a:t>如：第三条规定的罚款金额是多少？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977639" y="4297680"/>
            <a:ext cx="3291840" cy="1463040"/>
          </a:xfrm>
          <a:prstGeom prst="roundRect">
            <a:avLst/>
          </a:prstGeom>
          <a:solidFill>
            <a:srgbClr val="F8FAFC"/>
          </a:solidFill>
          <a:ln>
            <a:solidFill>
              <a:srgbClr val="0F9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069079" y="4389120"/>
            <a:ext cx="1371600" cy="320040"/>
          </a:xfrm>
          <a:prstGeom prst="roundRect">
            <a:avLst/>
          </a:prstGeom>
          <a:solidFill>
            <a:srgbClr val="0F9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069079" y="44165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COMPARISON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69079" y="47548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9D5C"/>
                </a:solidFill>
              </a:defRPr>
            </a:pPr>
            <a:r>
              <a:t>对比性问答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069079" y="51206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需要比较多个文档内容</a:t>
            </a:r>
            <a:br/>
            <a:r>
              <a:t>如：2024年和2025年的审计要求有什么变化？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498079" y="4297680"/>
            <a:ext cx="3291840" cy="1463040"/>
          </a:xfrm>
          <a:prstGeom prst="roundRect">
            <a:avLst/>
          </a:prstGeom>
          <a:solidFill>
            <a:srgbClr val="F8FAFC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7589519" y="4389120"/>
            <a:ext cx="1371600" cy="3200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89519" y="44165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MULTI_HOP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89519" y="47548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5CF6"/>
                </a:solidFill>
              </a:defRPr>
            </a:pPr>
            <a:r>
              <a:t>多跳问答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89519" y="51206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需要综合多个知识点推理</a:t>
            </a:r>
            <a:br/>
            <a:r>
              <a:t>如：哪些违规行为会导致审计风险评级上调？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1018520" y="4297680"/>
            <a:ext cx="3291840" cy="1463040"/>
          </a:xfrm>
          <a:prstGeom prst="roundRect">
            <a:avLst/>
          </a:prstGeom>
          <a:solidFill>
            <a:srgbClr val="F8FAFC"/>
          </a:solidFill>
          <a:ln>
            <a:solidFill>
              <a:srgbClr val="F59E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11109960" y="4389120"/>
            <a:ext cx="1371600" cy="320040"/>
          </a:xfrm>
          <a:prstGeom prst="roundRect">
            <a:avLst/>
          </a:prstGeom>
          <a:solidFill>
            <a:srgbClr val="F59E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109960" y="44165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UNANSWERABLE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109960" y="47548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C"/>
                </a:solidFill>
              </a:defRPr>
            </a:pPr>
            <a:r>
              <a:t>无答案判断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109960" y="51206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测试拒答准确性</a:t>
            </a:r>
            <a:br/>
            <a:r>
              <a:t>如：查询一个不存在的制度编号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5943600"/>
            <a:ext cx="1371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293B"/>
                </a:solidFill>
              </a:defRPr>
            </a:pPr>
            <a:r>
              <a:t>核心评测指标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57200" y="6400800"/>
            <a:ext cx="3291840" cy="77724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864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Recall@K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920240" y="64465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C"/>
                </a:solidFill>
              </a:defRPr>
            </a:pPr>
            <a:r>
              <a:t>Recall@5 &gt; 75%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8640" y="67665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Top-K结果中包含正确答案的比例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977639" y="6400800"/>
            <a:ext cx="3291840" cy="77724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069079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引用准确率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440679" y="64465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C"/>
                </a:solidFill>
              </a:defRPr>
            </a:pPr>
            <a:r>
              <a:t>Precision@3 &gt; 85%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069079" y="67665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引用的文档/段落与问题相关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498079" y="6400800"/>
            <a:ext cx="3291840" cy="77724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589519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幻觉率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961119" y="64465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C"/>
                </a:solidFill>
              </a:defRPr>
            </a:pPr>
            <a:r>
              <a:t>Hallucination &lt; 5%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589519" y="67665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回答内容与召回文档不一致的比例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1018520" y="6400800"/>
            <a:ext cx="3291840" cy="77724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110996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拒答准确率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2481560" y="64465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C"/>
                </a:solidFill>
              </a:defRPr>
            </a:pPr>
            <a:r>
              <a:t>Refusal &gt; 90%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109960" y="67665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对无答案问题的正确拒答比例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371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六、外部产品对接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68680"/>
            <a:ext cx="13898880" cy="1371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371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E293B"/>
                </a:solidFill>
              </a:defRPr>
            </a:pPr>
            <a:r>
              <a:t>外部产品对接方案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371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293B"/>
                </a:solidFill>
              </a:defRPr>
            </a:pPr>
            <a:r>
              <a:t>对接架构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920240"/>
            <a:ext cx="4572000" cy="91440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21031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KB-Platform</a:t>
            </a:r>
            <a:br/>
            <a:r>
              <a:t>知识库平台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3017520"/>
            <a:ext cx="2926080" cy="1097280"/>
          </a:xfrm>
          <a:prstGeom prst="roundRect">
            <a:avLst/>
          </a:prstGeom>
          <a:solidFill>
            <a:srgbClr val="F59E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47483647" y="31089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Dify工作流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7483647" y="34747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外部AI工作流编排平台</a:t>
            </a:r>
            <a:br/>
            <a:r>
              <a:t>提供工作流执行API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47483647" y="2834640"/>
            <a:ext cx="365760" cy="18288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286000" y="3017520"/>
            <a:ext cx="2926080" cy="1097280"/>
          </a:xfrm>
          <a:prstGeom prst="roundRect">
            <a:avLst/>
          </a:prstGeom>
          <a:solidFill>
            <a:srgbClr val="0F9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47483647" y="31089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MCP服务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7483647" y="34747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Model Context Protocol</a:t>
            </a:r>
            <a:br/>
            <a:r>
              <a:t>标准化智能体工具调用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47483647" y="2834640"/>
            <a:ext cx="365760" cy="18288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206240" y="3017520"/>
            <a:ext cx="2926080" cy="109728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47483647" y="31089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企业内部系统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7483647" y="34747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OA/HR/财务等</a:t>
            </a:r>
            <a:br/>
            <a:r>
              <a:t>通过API接入知识库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47483647" y="2834640"/>
            <a:ext cx="365760" cy="18288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863840" y="3017520"/>
            <a:ext cx="2743200" cy="109728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47483647" y="31089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钉钉/飞书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7483647" y="34747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企业IM集成</a:t>
            </a:r>
            <a:br/>
            <a:r>
              <a:t>单点登录+消息推送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47483647" y="2834640"/>
            <a:ext cx="365760" cy="18288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784080" y="3017520"/>
            <a:ext cx="2743200" cy="1097280"/>
          </a:xfrm>
          <a:prstGeom prst="roundRect">
            <a:avLst/>
          </a:prstGeom>
          <a:solidFill>
            <a:srgbClr val="0F9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47483647" y="31089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BladeX框架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47483647" y="34747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企业级Java开发框架</a:t>
            </a:r>
            <a:br/>
            <a:r>
              <a:t>统一认证+权限管理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47483647" y="2834640"/>
            <a:ext cx="365760" cy="18288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1704320" y="3017520"/>
            <a:ext cx="2743200" cy="1097280"/>
          </a:xfrm>
          <a:prstGeom prst="round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47483647" y="31089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日志/监控系统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47483647" y="34747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Grafana/Prometheus</a:t>
            </a:r>
            <a:br/>
            <a:r>
              <a:t>监控指标+告警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147483647" y="2834640"/>
            <a:ext cx="365760" cy="18288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297680"/>
            <a:ext cx="1371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293B"/>
                </a:solidFill>
              </a:defRPr>
            </a:pPr>
            <a:r>
              <a:t>主要对接方式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754880"/>
            <a:ext cx="3291840" cy="1828800"/>
          </a:xfrm>
          <a:prstGeom prst="roundRect">
            <a:avLst/>
          </a:prstGeom>
          <a:solidFill>
            <a:srgbClr val="F8FAFC"/>
          </a:solidFill>
          <a:ln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48640" y="4846320"/>
            <a:ext cx="1097280" cy="32004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48737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API网关对接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212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kb-gateway统一入口</a:t>
            </a:r>
            <a:br/>
            <a:r>
              <a:t>JWT Token鉴权</a:t>
            </a:r>
            <a:br/>
            <a:r>
              <a:t>RESTful API调用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286000" y="4846320"/>
            <a:ext cx="1280160" cy="320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286000" y="487375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HTTP REST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977639" y="4754880"/>
            <a:ext cx="3291840" cy="1828800"/>
          </a:xfrm>
          <a:prstGeom prst="roundRect">
            <a:avLst/>
          </a:prstGeom>
          <a:solidFill>
            <a:srgbClr val="F8FAFC"/>
          </a:solidFill>
          <a:ln>
            <a:solidFill>
              <a:srgbClr val="0F9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069079" y="4846320"/>
            <a:ext cx="1097280" cy="320040"/>
          </a:xfrm>
          <a:prstGeom prst="roundRect">
            <a:avLst/>
          </a:prstGeom>
          <a:solidFill>
            <a:srgbClr val="0F9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069079" y="48737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MCP协议对接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69079" y="5212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标准化工具调用协议</a:t>
            </a:r>
            <a:br/>
            <a:r>
              <a:t>Tools/Resources/Prompts</a:t>
            </a:r>
            <a:br/>
            <a:r>
              <a:t>支持工具发现+执行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806440" y="4846320"/>
            <a:ext cx="1280160" cy="320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806440" y="487375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MCP SDK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498079" y="4754880"/>
            <a:ext cx="3291840" cy="1828800"/>
          </a:xfrm>
          <a:prstGeom prst="roundRect">
            <a:avLst/>
          </a:prstGeom>
          <a:solidFill>
            <a:srgbClr val="F8FAFC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7589519" y="4846320"/>
            <a:ext cx="1097280" cy="3200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589519" y="48737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Kafka消息对接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89519" y="5212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file-ingest消费外部消息</a:t>
            </a:r>
            <a:br/>
            <a:r>
              <a:t>embed-task发布给外部</a:t>
            </a:r>
            <a:br/>
            <a:r>
              <a:t>事件驱动解耦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326880" y="4846320"/>
            <a:ext cx="1280160" cy="320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326880" y="487375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Kafka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1018520" y="4754880"/>
            <a:ext cx="3291840" cy="1828800"/>
          </a:xfrm>
          <a:prstGeom prst="roundRect">
            <a:avLst/>
          </a:prstGeom>
          <a:solidFill>
            <a:srgbClr val="F8FAFC"/>
          </a:solidFill>
          <a:ln>
            <a:solidFill>
              <a:srgbClr val="F59E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11109960" y="4846320"/>
            <a:ext cx="1097280" cy="320040"/>
          </a:xfrm>
          <a:prstGeom prst="roundRect">
            <a:avLst/>
          </a:prstGeom>
          <a:solidFill>
            <a:srgbClr val="F59E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109960" y="48737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单点登录对接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109960" y="5212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OIDC/OBO Token Exchange</a:t>
            </a:r>
            <a:br/>
            <a:r>
              <a:t>BladeX Token转换</a:t>
            </a:r>
            <a:br/>
            <a:r>
              <a:t>统一身份认证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2847320" y="4846320"/>
            <a:ext cx="1280160" cy="320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2847320" y="487375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OIDC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371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七、未来规划 - 功能架构图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68680"/>
            <a:ext cx="13898880" cy="1371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371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E293B"/>
                </a:solidFill>
              </a:defRPr>
            </a:pPr>
            <a:r>
              <a:t>未来规划 - 功能架构图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4480560" cy="548640"/>
          </a:xfrm>
          <a:prstGeom prst="roundRect">
            <a:avLst/>
          </a:prstGeom>
          <a:solidFill>
            <a:srgbClr val="0F9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Phase 1：MVP基础 (已完成)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80" y="1463040"/>
            <a:ext cx="4480560" cy="548640"/>
          </a:xfrm>
          <a:prstGeom prst="roundRect">
            <a:avLst/>
          </a:prstGeom>
          <a:solidFill>
            <a:srgbClr val="F59E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0" y="155448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Phase 2：检索增强 (4-6周)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66960" y="1463040"/>
            <a:ext cx="4480560" cy="54864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66960" y="155448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Phase 3：企业治理 (6-8周)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194560"/>
            <a:ext cx="4480560" cy="4023360"/>
          </a:xfrm>
          <a:prstGeom prst="roundRect">
            <a:avLst/>
          </a:prstGeom>
          <a:solidFill>
            <a:srgbClr val="F8FAFC"/>
          </a:solidFill>
          <a:ln>
            <a:solidFill>
              <a:srgbClr val="0F9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28600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9D5C"/>
                </a:solidFill>
              </a:defRPr>
            </a:pPr>
            <a:r>
              <a:t>已具备能力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7432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</a:defRPr>
            </a:pPr>
            <a:r>
              <a:t>* 文档上传-&gt;解析-&gt;切片-&gt;入库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06324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全链路打通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3832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</a:defRPr>
            </a:pPr>
            <a:r>
              <a:t>* RAG基础问答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70332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向量检索+Rerank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0233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</a:defRPr>
            </a:pPr>
            <a:r>
              <a:t>* 知识空间管理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34340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树形层级+ACL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6634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</a:defRPr>
            </a:pPr>
            <a:r>
              <a:t>* 专家中心基础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983479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角色化RAG入口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3035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</a:defRPr>
            </a:pPr>
            <a:r>
              <a:t>* 技能广场基础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62356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工具+提示词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0" y="2194560"/>
            <a:ext cx="4480560" cy="4023360"/>
          </a:xfrm>
          <a:prstGeom prst="roundRect">
            <a:avLst/>
          </a:prstGeom>
          <a:solidFill>
            <a:srgbClr val="F8FAFC"/>
          </a:solidFill>
          <a:ln>
            <a:solidFill>
              <a:srgbClr val="F59E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0" y="228600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C"/>
                </a:solidFill>
              </a:defRPr>
            </a:pPr>
            <a:r>
              <a:t>Phase 2：检索增强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0" y="27432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</a:defRPr>
            </a:pPr>
            <a:r>
              <a:t>* BM25关键词检索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60" y="301752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PG全文索引+jieba分词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80" y="32918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</a:defRPr>
            </a:pPr>
            <a:r>
              <a:t>* FAQ缓存短路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4960" y="356616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cosine&gt;=0.92直接返回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80" y="38404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</a:defRPr>
            </a:pPr>
            <a:r>
              <a:t>* 条款编号Fast Path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94960" y="41148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section_path精确匹配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80" y="43891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</a:defRPr>
            </a:pPr>
            <a:r>
              <a:t>* RRF多路融合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94960" y="46634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Dense+BM25+FAQ融合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2080" y="49377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</a:defRPr>
            </a:pPr>
            <a:r>
              <a:t>* LLM查询改写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94960" y="5212079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结构化JSON输出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12080" y="54864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</a:defRPr>
            </a:pPr>
            <a:r>
              <a:t>* 意图路由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94960" y="576072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规则+LLM分类6条链路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601200" y="2194560"/>
            <a:ext cx="4572000" cy="4023360"/>
          </a:xfrm>
          <a:prstGeom prst="roundRect">
            <a:avLst/>
          </a:prstGeom>
          <a:solidFill>
            <a:srgbClr val="F8FAFC"/>
          </a:solidFill>
          <a:ln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92640" y="22860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</a:defRPr>
            </a:pPr>
            <a:r>
              <a:t>Phase 3：企业治理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84080" y="274320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</a:defRPr>
            </a:pPr>
            <a:r>
              <a:t>* OIDC统一认证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66960" y="301752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BladeX Token转换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84080" y="329184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</a:defRPr>
            </a:pPr>
            <a:r>
              <a:t>* 用户上下文聚合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66960" y="356616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HR/OA/IAM权限聚合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84080" y="384048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</a:defRPr>
            </a:pPr>
            <a:r>
              <a:t>* RAG权限过滤闭环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66960" y="411480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Milvus+PG两道防线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84080" y="438912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</a:defRPr>
            </a:pPr>
            <a:r>
              <a:t>* 评测体系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66960" y="466344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eval_dataset+LLM-as-Judge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84080" y="493776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</a:defRPr>
            </a:pPr>
            <a:r>
              <a:t>* 反馈闭环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66960" y="5212079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点赞-&gt;FAQ 差评-&gt;Badcase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84080" y="548640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</a:defRPr>
            </a:pPr>
            <a:r>
              <a:t>* 审计+成本治理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6960" y="576072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操作审计+Token仪表盘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6400800"/>
            <a:ext cx="1371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</a:defRPr>
            </a:pPr>
            <a:r>
              <a:t>长期规划（6-12个月+）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6858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* OCR Agent（扫描件图表识别）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12080" y="6858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* Table Agent（表格结构化提取）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966960" y="6858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* Embedding微调（企业领域语料）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7315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* GraphRAG（实体关系图谱）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212080" y="7315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* 多模态召回（图表向量化）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966960" y="7315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* HyDE（假设文档嵌入）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371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八、竞品对比与优势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68680"/>
            <a:ext cx="13898880" cy="1371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371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E293B"/>
                </a:solidFill>
              </a:defRPr>
            </a:pPr>
            <a:r>
              <a:t>竞品对比与优势分析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2286000" cy="45720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276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维度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8920" y="1554480"/>
            <a:ext cx="3200400" cy="45720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88920" y="16276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KB-Platform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554480"/>
            <a:ext cx="3200400" cy="45720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0" y="16276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Coze/扣子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81159" y="1554480"/>
            <a:ext cx="3200400" cy="45720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81159" y="16276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WorkBuddy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527280" y="1554480"/>
            <a:ext cx="2286000" cy="45720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527280" y="16276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传统知识库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103120"/>
            <a:ext cx="2286000" cy="640080"/>
          </a:xfrm>
          <a:prstGeom prst="rect">
            <a:avLst/>
          </a:prstGeom>
          <a:solidFill>
            <a:srgbClr val="F8FAFC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148839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知识召回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88920" y="2103120"/>
            <a:ext cx="3200400" cy="640080"/>
          </a:xfrm>
          <a:prstGeom prst="rect">
            <a:avLst/>
          </a:prstGeom>
          <a:solidFill>
            <a:srgbClr val="F8FAFC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80360" y="2148839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56DB"/>
                </a:solidFill>
              </a:defRPr>
            </a:pPr>
            <a:r>
              <a:t>Dense+Rerank+BM25(Phase2)</a:t>
            </a:r>
            <a:br/>
            <a:r>
              <a:t>RRF多路融合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2103120"/>
            <a:ext cx="3200400" cy="640080"/>
          </a:xfrm>
          <a:prstGeom prst="rect">
            <a:avLst/>
          </a:prstGeom>
          <a:solidFill>
            <a:srgbClr val="F8FAFC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79" y="2148839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纯向量检索</a:t>
            </a:r>
            <a:br/>
            <a:r>
              <a:t>无Rerank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81159" y="2103120"/>
            <a:ext cx="3200400" cy="640080"/>
          </a:xfrm>
          <a:prstGeom prst="rect">
            <a:avLst/>
          </a:prstGeom>
          <a:solidFill>
            <a:srgbClr val="F8FAFC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72599" y="2148839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向量+关键词</a:t>
            </a:r>
            <a:br/>
            <a:r>
              <a:t>简单混合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527280" y="2103120"/>
            <a:ext cx="2286000" cy="640080"/>
          </a:xfrm>
          <a:prstGeom prst="rect">
            <a:avLst/>
          </a:prstGeom>
          <a:solidFill>
            <a:srgbClr val="F8FAFC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618719" y="2148839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仅关键词</a:t>
            </a:r>
            <a:br/>
            <a:r>
              <a:t>无向量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2788920"/>
            <a:ext cx="22860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2834639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文件解析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88920" y="2788920"/>
            <a:ext cx="3200400" cy="640080"/>
          </a:xfrm>
          <a:prstGeom prst="rect">
            <a:avLst/>
          </a:prstGeom>
          <a:solidFill>
            <a:srgbClr val="F8FAFC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80360" y="2834639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56DB"/>
                </a:solidFill>
              </a:defRPr>
            </a:pPr>
            <a:r>
              <a:t>Tika五层清洗</a:t>
            </a:r>
            <a:br/>
            <a:r>
              <a:t>智能分块+Parent-Child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35040" y="2788920"/>
            <a:ext cx="32004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79" y="2834639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大模型API解析</a:t>
            </a:r>
            <a:br/>
            <a:r>
              <a:t>无清洗分块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81159" y="2788920"/>
            <a:ext cx="32004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72599" y="2834639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基础解析</a:t>
            </a:r>
            <a:br/>
            <a:r>
              <a:t>无智能分块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527280" y="2788920"/>
            <a:ext cx="22860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618719" y="2834639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无分块</a:t>
            </a:r>
            <a:br/>
            <a:r>
              <a:t>直接入库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3474720"/>
            <a:ext cx="2286000" cy="640080"/>
          </a:xfrm>
          <a:prstGeom prst="rect">
            <a:avLst/>
          </a:prstGeom>
          <a:solidFill>
            <a:srgbClr val="F8FAFC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3520439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权限控制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88920" y="3474720"/>
            <a:ext cx="3200400" cy="640080"/>
          </a:xfrm>
          <a:prstGeom prst="rect">
            <a:avLst/>
          </a:prstGeom>
          <a:solidFill>
            <a:srgbClr val="F8FAFC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80360" y="3520439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56DB"/>
                </a:solidFill>
              </a:defRPr>
            </a:pPr>
            <a:r>
              <a:t>6维度ACL+两道防线</a:t>
            </a:r>
            <a:br/>
            <a:r>
              <a:t>租户/密级/权限组/地区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3474720"/>
            <a:ext cx="3200400" cy="640080"/>
          </a:xfrm>
          <a:prstGeom prst="rect">
            <a:avLst/>
          </a:prstGeom>
          <a:solidFill>
            <a:srgbClr val="F8FAFC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26479" y="3520439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基础权限</a:t>
            </a:r>
            <a:br/>
            <a:r>
              <a:t>无多维度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281159" y="3474720"/>
            <a:ext cx="3200400" cy="640080"/>
          </a:xfrm>
          <a:prstGeom prst="rect">
            <a:avLst/>
          </a:prstGeom>
          <a:solidFill>
            <a:srgbClr val="F8FAFC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72599" y="3520439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部门级权限</a:t>
            </a:r>
            <a:br/>
            <a:r>
              <a:t>无细粒度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2527280" y="3474720"/>
            <a:ext cx="2286000" cy="640080"/>
          </a:xfrm>
          <a:prstGeom prst="rect">
            <a:avLst/>
          </a:prstGeom>
          <a:solidFill>
            <a:srgbClr val="F8FAFC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618719" y="3520439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仅三级权限</a:t>
            </a:r>
            <a:br/>
            <a:r>
              <a:t>无动态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4160520"/>
            <a:ext cx="22860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42062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评测体系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88920" y="4160520"/>
            <a:ext cx="3200400" cy="640080"/>
          </a:xfrm>
          <a:prstGeom prst="rect">
            <a:avLst/>
          </a:prstGeom>
          <a:solidFill>
            <a:srgbClr val="F8FAFC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880360" y="42062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56DB"/>
                </a:solidFill>
              </a:defRPr>
            </a:pPr>
            <a:r>
              <a:t>4类QA评测集</a:t>
            </a:r>
            <a:br/>
            <a:r>
              <a:t>LLM-as-Judge</a:t>
            </a:r>
            <a:br/>
            <a:r>
              <a:t>Badcase闭环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35040" y="4160520"/>
            <a:ext cx="32004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26479" y="42062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无评测体系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281159" y="4160520"/>
            <a:ext cx="32004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372599" y="42062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简单统计</a:t>
            </a:r>
            <a:br/>
            <a:r>
              <a:t>无闭环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2527280" y="4160520"/>
            <a:ext cx="22860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2618719" y="42062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无评测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4846320"/>
            <a:ext cx="2286000" cy="640080"/>
          </a:xfrm>
          <a:prstGeom prst="rect">
            <a:avLst/>
          </a:prstGeom>
          <a:solidFill>
            <a:srgbClr val="F8FAFC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8640" y="48920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专家中心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88920" y="4846320"/>
            <a:ext cx="3200400" cy="640080"/>
          </a:xfrm>
          <a:prstGeom prst="rect">
            <a:avLst/>
          </a:prstGeom>
          <a:solidFill>
            <a:srgbClr val="F8FAFC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880360" y="48920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56DB"/>
                </a:solidFill>
              </a:defRPr>
            </a:pPr>
            <a:r>
              <a:t>角色化RAG智能体</a:t>
            </a:r>
            <a:br/>
            <a:r>
              <a:t>SystemPrompt+RAG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035040" y="4846320"/>
            <a:ext cx="3200400" cy="640080"/>
          </a:xfrm>
          <a:prstGeom prst="rect">
            <a:avLst/>
          </a:prstGeom>
          <a:solidFill>
            <a:srgbClr val="F8FAFC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126479" y="48920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Agent工作流</a:t>
            </a:r>
            <a:br/>
            <a:r>
              <a:t>无RAG增强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281159" y="4846320"/>
            <a:ext cx="3200400" cy="640080"/>
          </a:xfrm>
          <a:prstGeom prst="rect">
            <a:avLst/>
          </a:prstGeom>
          <a:solidFill>
            <a:srgbClr val="F8FAFC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372599" y="48920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助手模式</a:t>
            </a:r>
            <a:br/>
            <a:r>
              <a:t>无角色化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2527280" y="4846320"/>
            <a:ext cx="2286000" cy="640080"/>
          </a:xfrm>
          <a:prstGeom prst="rect">
            <a:avLst/>
          </a:prstGeom>
          <a:solidFill>
            <a:srgbClr val="F8FAFC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2618719" y="48920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无专家概念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57200" y="5532120"/>
            <a:ext cx="22860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48640" y="55778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扩展性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88920" y="5532120"/>
            <a:ext cx="3200400" cy="640080"/>
          </a:xfrm>
          <a:prstGeom prst="rect">
            <a:avLst/>
          </a:prstGeom>
          <a:solidFill>
            <a:srgbClr val="F8FAFC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880360" y="55778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56DB"/>
                </a:solidFill>
              </a:defRPr>
            </a:pPr>
            <a:r>
              <a:t>MCP协议+Dify</a:t>
            </a:r>
            <a:br/>
            <a:r>
              <a:t>工具箱可扩展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035040" y="5532120"/>
            <a:ext cx="32004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126479" y="55778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插件市场</a:t>
            </a:r>
            <a:br/>
            <a:r>
              <a:t>封闭生态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281159" y="5532120"/>
            <a:ext cx="32004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372599" y="55778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固定功能</a:t>
            </a:r>
            <a:br/>
            <a:r>
              <a:t>难扩展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2527280" y="5532120"/>
            <a:ext cx="22860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2618719" y="55778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无扩展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57200" y="6217920"/>
            <a:ext cx="2286000" cy="640080"/>
          </a:xfrm>
          <a:prstGeom prst="rect">
            <a:avLst/>
          </a:prstGeom>
          <a:solidFill>
            <a:srgbClr val="F8FAFC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48640" y="62636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部署方式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788920" y="6217920"/>
            <a:ext cx="3200400" cy="640080"/>
          </a:xfrm>
          <a:prstGeom prst="rect">
            <a:avLst/>
          </a:prstGeom>
          <a:solidFill>
            <a:srgbClr val="F8FAFC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880360" y="62636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56DB"/>
                </a:solidFill>
              </a:defRPr>
            </a:pPr>
            <a:r>
              <a:t>私有化部署</a:t>
            </a:r>
            <a:br/>
            <a:r>
              <a:t>微服务架构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035040" y="6217920"/>
            <a:ext cx="3200400" cy="640080"/>
          </a:xfrm>
          <a:prstGeom prst="rect">
            <a:avLst/>
          </a:prstGeom>
          <a:solidFill>
            <a:srgbClr val="F8FAFC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126479" y="62636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SaaS为主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281159" y="6217920"/>
            <a:ext cx="3200400" cy="640080"/>
          </a:xfrm>
          <a:prstGeom prst="rect">
            <a:avLst/>
          </a:prstGeom>
          <a:solidFill>
            <a:srgbClr val="F8FAFC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372599" y="62636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混合部署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2527280" y="6217920"/>
            <a:ext cx="2286000" cy="640080"/>
          </a:xfrm>
          <a:prstGeom prst="rect">
            <a:avLst/>
          </a:prstGeom>
          <a:solidFill>
            <a:srgbClr val="F8FAFC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2618719" y="62636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私有化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7200" y="7132320"/>
            <a:ext cx="1371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9D5C"/>
                </a:solidFill>
              </a:defRPr>
            </a:pPr>
            <a:r>
              <a:t>KB-Platform 核心优势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457200" y="7543800"/>
            <a:ext cx="4572000" cy="640080"/>
          </a:xfrm>
          <a:prstGeom prst="roundRect">
            <a:avLst/>
          </a:prstGeom>
          <a:solidFill>
            <a:srgbClr val="0F9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48640" y="7589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企业级架构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377440" y="75895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微服务+Kafka解耦</a:t>
            </a:r>
            <a:br/>
            <a:r>
              <a:t>每个服务可独立扩展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5212080" y="7543800"/>
            <a:ext cx="4572000" cy="640080"/>
          </a:xfrm>
          <a:prstGeom prst="roundRect">
            <a:avLst/>
          </a:prstGeom>
          <a:solidFill>
            <a:srgbClr val="0F9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303520" y="7589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精准召回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132320" y="75895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多路融合+Rerank精排</a:t>
            </a:r>
            <a:br/>
            <a:r>
              <a:t>条款Fast Path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9966960" y="7543800"/>
            <a:ext cx="4572000" cy="640080"/>
          </a:xfrm>
          <a:prstGeom prst="roundRect">
            <a:avLst/>
          </a:prstGeom>
          <a:solidFill>
            <a:srgbClr val="0F9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0058400" y="7589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完整治理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1887200" y="75895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评测闭环+权限两道防线</a:t>
            </a:r>
            <a:br/>
            <a:r>
              <a:t>审计可追溯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4011295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rPr lang="zh-CN"/>
              <a:t>九</a:t>
            </a:r>
            <a:r>
              <a:t>、</a:t>
            </a:r>
            <a:r>
              <a:rPr lang="zh-CN"/>
              <a:t>产品展示</a:t>
            </a:r>
            <a:r>
              <a:rPr lang="en-US" altLang="zh-CN"/>
              <a:t>-</a:t>
            </a:r>
            <a:r>
              <a:rPr lang="zh-CN" altLang="en-US"/>
              <a:t>工作台</a:t>
            </a:r>
            <a:endParaRPr lang="zh-CN" altLang="en-US"/>
          </a:p>
        </p:txBody>
      </p:sp>
      <p:sp>
        <p:nvSpPr>
          <p:cNvPr id="4" name="Rectangle 3"/>
          <p:cNvSpPr/>
          <p:nvPr/>
        </p:nvSpPr>
        <p:spPr>
          <a:xfrm>
            <a:off x="365760" y="868680"/>
            <a:ext cx="13898880" cy="1371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7" name="图片 9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145" y="967740"/>
            <a:ext cx="12758420" cy="699897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441833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rPr lang="zh-CN"/>
              <a:t>九</a:t>
            </a:r>
            <a:r>
              <a:t>、</a:t>
            </a:r>
            <a:r>
              <a:rPr lang="zh-CN"/>
              <a:t>产品展示</a:t>
            </a:r>
            <a:r>
              <a:rPr lang="en-US" altLang="zh-CN"/>
              <a:t>-</a:t>
            </a:r>
            <a:r>
              <a:rPr lang="zh-CN" altLang="en-US"/>
              <a:t>知识</a:t>
            </a:r>
            <a:r>
              <a:rPr lang="zh-CN" altLang="en-US"/>
              <a:t>空间</a:t>
            </a:r>
            <a:endParaRPr lang="zh-CN" altLang="en-US"/>
          </a:p>
        </p:txBody>
      </p:sp>
      <p:sp>
        <p:nvSpPr>
          <p:cNvPr id="4" name="Rectangle 3"/>
          <p:cNvSpPr/>
          <p:nvPr/>
        </p:nvSpPr>
        <p:spPr>
          <a:xfrm>
            <a:off x="365760" y="868680"/>
            <a:ext cx="13898880" cy="1371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185" y="967740"/>
            <a:ext cx="11516360" cy="705739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441833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rPr lang="zh-CN"/>
              <a:t>九</a:t>
            </a:r>
            <a:r>
              <a:t>、</a:t>
            </a:r>
            <a:r>
              <a:rPr lang="zh-CN"/>
              <a:t>产品展示</a:t>
            </a:r>
            <a:r>
              <a:rPr lang="en-US" altLang="zh-CN"/>
              <a:t>-</a:t>
            </a:r>
            <a:r>
              <a:rPr lang="zh-CN" altLang="en-US"/>
              <a:t>知识</a:t>
            </a:r>
            <a:r>
              <a:rPr lang="zh-CN" altLang="en-US"/>
              <a:t>管理</a:t>
            </a:r>
            <a:endParaRPr lang="zh-CN" altLang="en-US"/>
          </a:p>
        </p:txBody>
      </p:sp>
      <p:sp>
        <p:nvSpPr>
          <p:cNvPr id="4" name="Rectangle 3"/>
          <p:cNvSpPr/>
          <p:nvPr/>
        </p:nvSpPr>
        <p:spPr>
          <a:xfrm>
            <a:off x="365760" y="868680"/>
            <a:ext cx="13898880" cy="1371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862330"/>
            <a:ext cx="12531725" cy="703453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441833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rPr lang="zh-CN"/>
              <a:t>九</a:t>
            </a:r>
            <a:r>
              <a:t>、</a:t>
            </a:r>
            <a:r>
              <a:rPr lang="zh-CN"/>
              <a:t>产品展示</a:t>
            </a:r>
            <a:r>
              <a:rPr lang="en-US" altLang="zh-CN"/>
              <a:t>-</a:t>
            </a:r>
            <a:r>
              <a:rPr lang="zh-CN" altLang="en-US"/>
              <a:t>文件</a:t>
            </a:r>
            <a:r>
              <a:rPr lang="zh-CN" altLang="en-US"/>
              <a:t>解析</a:t>
            </a:r>
            <a:endParaRPr lang="zh-CN" altLang="en-US"/>
          </a:p>
        </p:txBody>
      </p:sp>
      <p:sp>
        <p:nvSpPr>
          <p:cNvPr id="4" name="Rectangle 3"/>
          <p:cNvSpPr/>
          <p:nvPr/>
        </p:nvSpPr>
        <p:spPr>
          <a:xfrm>
            <a:off x="365760" y="868680"/>
            <a:ext cx="13898880" cy="1371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48080"/>
            <a:ext cx="7759700" cy="683450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5460" y="1452245"/>
            <a:ext cx="6107430" cy="300799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8695" y="4460240"/>
            <a:ext cx="5140325" cy="375793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441833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rPr lang="zh-CN"/>
              <a:t>九</a:t>
            </a:r>
            <a:r>
              <a:t>、</a:t>
            </a:r>
            <a:r>
              <a:rPr lang="zh-CN"/>
              <a:t>产品展示</a:t>
            </a:r>
            <a:r>
              <a:rPr lang="en-US" altLang="zh-CN"/>
              <a:t>-</a:t>
            </a:r>
            <a:r>
              <a:rPr lang="zh-CN" altLang="en-US"/>
              <a:t>技能</a:t>
            </a:r>
            <a:r>
              <a:rPr lang="zh-CN" altLang="en-US"/>
              <a:t>中心</a:t>
            </a:r>
            <a:endParaRPr lang="zh-CN" altLang="en-US"/>
          </a:p>
        </p:txBody>
      </p:sp>
      <p:sp>
        <p:nvSpPr>
          <p:cNvPr id="4" name="Rectangle 3"/>
          <p:cNvSpPr/>
          <p:nvPr/>
        </p:nvSpPr>
        <p:spPr>
          <a:xfrm>
            <a:off x="365760" y="868680"/>
            <a:ext cx="13898880" cy="1371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6415" y="1364615"/>
            <a:ext cx="11037570" cy="599249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371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</a:p>
        </p:txBody>
      </p:sp>
      <p:sp>
        <p:nvSpPr>
          <p:cNvPr id="4" name="Rectangle 3"/>
          <p:cNvSpPr/>
          <p:nvPr/>
        </p:nvSpPr>
        <p:spPr>
          <a:xfrm>
            <a:off x="365760" y="868680"/>
            <a:ext cx="13898880" cy="1371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371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让企业知识真正活起来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4480560" cy="182880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当下价值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文件解析从黑盒大模型升级为10步可控流水线，</a:t>
            </a:r>
            <a:br/>
            <a:r>
              <a:t>检索从单路猜升级为多路精准召回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1828800"/>
            <a:ext cx="4480560" cy="1828800"/>
          </a:xfrm>
          <a:prstGeom prst="roundRect">
            <a:avLst/>
          </a:prstGeom>
          <a:solidFill>
            <a:srgbClr val="0F9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192024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中期价值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246888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形成知识沉淀-&gt;精准检索-&gt;可信问答-&gt;反馈优化完整闭环，</a:t>
            </a:r>
            <a:br/>
            <a:r>
              <a:t>越用越准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84080" y="1828800"/>
            <a:ext cx="4480560" cy="182880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0" y="192024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长期价值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59" y="246888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构建企业知识智能体基础设施，</a:t>
            </a:r>
            <a:br/>
            <a:r>
              <a:t>支撑审计、合规、风控等多场景智能决策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931920"/>
            <a:ext cx="1371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核心能力矩阵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480560"/>
            <a:ext cx="3108960" cy="128016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720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文档解析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9834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智能分块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3492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质量评分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4480560"/>
            <a:ext cx="3108960" cy="128016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0" y="45720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多路召回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49834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RRF融合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53492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Rerank精排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63840" y="4480560"/>
            <a:ext cx="3108960" cy="128016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0" y="45720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专家中心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49834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RAG增强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53492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角色设定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338559" y="4480560"/>
            <a:ext cx="3108960" cy="128016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338559" y="45720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数据评测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59" y="49834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Badcase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59" y="53492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持续优化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035040"/>
            <a:ext cx="1371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59E0C"/>
                </a:solidFill>
              </a:defRPr>
            </a:pPr>
            <a:r>
              <a:t>知识库不是文件柜，是企业的第二大脑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583680"/>
            <a:ext cx="1371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</a:defRPr>
            </a:pPr>
            <a:r>
              <a:t>我们不是在做一个聊天机器人，是在构建企业知识的神经系统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7498079"/>
            <a:ext cx="1371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谢谢！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7019</Words>
  <Application>WPS 演示</Application>
  <PresentationFormat>On-screen Show (4:3)</PresentationFormat>
  <Paragraphs>1156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5" baseType="lpstr">
      <vt:lpstr>Arial</vt:lpstr>
      <vt:lpstr>宋体</vt:lpstr>
      <vt:lpstr>Wingdings</vt:lpstr>
      <vt:lpstr>Arial</vt:lpstr>
      <vt:lpstr>Calibri</vt:lpstr>
      <vt:lpstr>Helvetica Neue</vt:lpstr>
      <vt:lpstr>宋体</vt:lpstr>
      <vt:lpstr>汉仪书宋二KW</vt:lpstr>
      <vt:lpstr>微软雅黑</vt:lpstr>
      <vt:lpstr>汉仪旗黑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apple</cp:lastModifiedBy>
  <cp:revision>2</cp:revision>
  <dcterms:created xsi:type="dcterms:W3CDTF">2026-05-15T06:51:49Z</dcterms:created>
  <dcterms:modified xsi:type="dcterms:W3CDTF">2026-05-15T06:51:49Z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2052-12.1.25867.25867</vt:lpwstr>
  </property>
  <property fmtid="{D5CDD505-2E9C-101B-9397-08002B2CF9AE}" pid="3" name="ICV">
    <vt:lpwstr>59D0D4E72B2FF09685C2066A8A5AB685_42</vt:lpwstr>
  </property>
</Properties>
</file>